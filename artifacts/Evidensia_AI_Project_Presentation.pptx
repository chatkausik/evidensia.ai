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64b42dc36a4c3d" /><Relationship Type="http://schemas.openxmlformats.org/officeDocument/2006/relationships/extended-properties" Target="/docProps/app.xml" Id="R0f4419fcc9e34a4e" /><Relationship Type="http://schemas.openxmlformats.org/officeDocument/2006/relationships/officeDocument" Target="/ppt/presentation.xml" Id="Rc02bae2c47e547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30ceda4231471d"/>
  </p:sldMasterIdLst>
  <p:notesMasterIdLst>
    <p:notesMasterId xmlns:r="http://schemas.openxmlformats.org/officeDocument/2006/relationships" r:id="Rc12cbbefaad1469d"/>
  </p:notesMasterIdLst>
  <p:sldIdLst>
    <p:sldId xmlns:r="http://schemas.openxmlformats.org/officeDocument/2006/relationships" id="256" r:id="R0a85e01c57c44c12"/>
    <p:sldId xmlns:r="http://schemas.openxmlformats.org/officeDocument/2006/relationships" id="257" r:id="R175ae5fc541f4d81"/>
    <p:sldId xmlns:r="http://schemas.openxmlformats.org/officeDocument/2006/relationships" id="258" r:id="R5643b8e19400464d"/>
    <p:sldId xmlns:r="http://schemas.openxmlformats.org/officeDocument/2006/relationships" id="259" r:id="R42c97384061c4997"/>
    <p:sldId xmlns:r="http://schemas.openxmlformats.org/officeDocument/2006/relationships" id="260" r:id="R13d78f013db44d9b"/>
    <p:sldId xmlns:r="http://schemas.openxmlformats.org/officeDocument/2006/relationships" id="261" r:id="R873261fcedc84e4d"/>
    <p:sldId xmlns:r="http://schemas.openxmlformats.org/officeDocument/2006/relationships" id="262" r:id="R26b98ee1eedb415f"/>
    <p:sldId xmlns:r="http://schemas.openxmlformats.org/officeDocument/2006/relationships" id="263" r:id="Rf8e8a83ac4ad4499"/>
    <p:sldId xmlns:r="http://schemas.openxmlformats.org/officeDocument/2006/relationships" id="264" r:id="R30611c3c0c6c4647"/>
    <p:sldId xmlns:r="http://schemas.openxmlformats.org/officeDocument/2006/relationships" id="265" r:id="Rbd7371dc8eab41e4"/>
    <p:sldId xmlns:r="http://schemas.openxmlformats.org/officeDocument/2006/relationships" id="266" r:id="Rec1622362e1043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9195b80b364bc7" /><Relationship Type="http://schemas.openxmlformats.org/officeDocument/2006/relationships/slideMaster" Target="/ppt/slideMasters/slideMaster1.xml" Id="R7c30ceda4231471d" /><Relationship Type="http://schemas.openxmlformats.org/officeDocument/2006/relationships/notesMaster" Target="/ppt/notesMasters/notesMaster1.xml" Id="Rc12cbbefaad1469d" /><Relationship Type="http://schemas.openxmlformats.org/officeDocument/2006/relationships/presProps" Target="/ppt/presProps.xml" Id="R9b3d5b3aac8a41f6" /><Relationship Type="http://schemas.openxmlformats.org/officeDocument/2006/relationships/tableStyles" Target="/ppt/tableStyles.xml" Id="Re675281c62ae4a0e" /><Relationship Type="http://schemas.openxmlformats.org/officeDocument/2006/relationships/slide" Target="/ppt/slides/slide1.xml" Id="R0a85e01c57c44c12" /><Relationship Type="http://schemas.openxmlformats.org/officeDocument/2006/relationships/slide" Target="/ppt/slides/slide2.xml" Id="R175ae5fc541f4d81" /><Relationship Type="http://schemas.openxmlformats.org/officeDocument/2006/relationships/slide" Target="/ppt/slides/slide3.xml" Id="R5643b8e19400464d" /><Relationship Type="http://schemas.openxmlformats.org/officeDocument/2006/relationships/slide" Target="/ppt/slides/slide4.xml" Id="R42c97384061c4997" /><Relationship Type="http://schemas.openxmlformats.org/officeDocument/2006/relationships/slide" Target="/ppt/slides/slide5.xml" Id="R13d78f013db44d9b" /><Relationship Type="http://schemas.openxmlformats.org/officeDocument/2006/relationships/slide" Target="/ppt/slides/slide6.xml" Id="R873261fcedc84e4d" /><Relationship Type="http://schemas.openxmlformats.org/officeDocument/2006/relationships/slide" Target="/ppt/slides/slide7.xml" Id="R26b98ee1eedb415f" /><Relationship Type="http://schemas.openxmlformats.org/officeDocument/2006/relationships/slide" Target="/ppt/slides/slide8.xml" Id="Rf8e8a83ac4ad4499" /><Relationship Type="http://schemas.openxmlformats.org/officeDocument/2006/relationships/slide" Target="/ppt/slides/slide9.xml" Id="R30611c3c0c6c4647" /><Relationship Type="http://schemas.openxmlformats.org/officeDocument/2006/relationships/slide" Target="/ppt/slides/slide10.xml" Id="Rbd7371dc8eab41e4" /><Relationship Type="http://schemas.openxmlformats.org/officeDocument/2006/relationships/slide" Target="/ppt/slides/slide11.xml" Id="Rec1622362e1043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cff7faf42744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0a865fee154f4f" /><Relationship Type="http://schemas.openxmlformats.org/officeDocument/2006/relationships/notesMaster" Target="/ppt/notesMasters/notesMaster1.xml" Id="Rae13588993e845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6ac945f0946b6" /><Relationship Type="http://schemas.openxmlformats.org/officeDocument/2006/relationships/notesMaster" Target="/ppt/notesMasters/notesMaster1.xml" Id="Ra29f17416d8b47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53b34ce88843c9" /><Relationship Type="http://schemas.openxmlformats.org/officeDocument/2006/relationships/notesMaster" Target="/ppt/notesMasters/notesMaster1.xml" Id="R0dedaebcfec047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36b63a06e04294" /><Relationship Type="http://schemas.openxmlformats.org/officeDocument/2006/relationships/notesMaster" Target="/ppt/notesMasters/notesMaster1.xml" Id="R95d290e982da47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626d27d3134902" /><Relationship Type="http://schemas.openxmlformats.org/officeDocument/2006/relationships/notesMaster" Target="/ppt/notesMasters/notesMaster1.xml" Id="R4c23a0d189154c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9ecfc6d133478b" /><Relationship Type="http://schemas.openxmlformats.org/officeDocument/2006/relationships/notesMaster" Target="/ppt/notesMasters/notesMaster1.xml" Id="R691ce90bc7854e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23ff65464247cb" /><Relationship Type="http://schemas.openxmlformats.org/officeDocument/2006/relationships/notesMaster" Target="/ppt/notesMasters/notesMaster1.xml" Id="Rbb9ba8facc7141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f27cedc08b4a7c" /><Relationship Type="http://schemas.openxmlformats.org/officeDocument/2006/relationships/notesMaster" Target="/ppt/notesMasters/notesMaster1.xml" Id="R24aa0a881d6e43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60d254af8e46f5" /><Relationship Type="http://schemas.openxmlformats.org/officeDocument/2006/relationships/notesMaster" Target="/ppt/notesMasters/notesMaster1.xml" Id="Rf05f1a6bcd9349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d962475d08456b" /><Relationship Type="http://schemas.openxmlformats.org/officeDocument/2006/relationships/notesMaster" Target="/ppt/notesMasters/notesMaster1.xml" Id="Rd050fe390e2748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56982b240d40ab" /><Relationship Type="http://schemas.openxmlformats.org/officeDocument/2006/relationships/notesMaster" Target="/ppt/notesMasters/notesMaster1.xml" Id="R9e1a08ac9e424e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a defensible answer requires a visible evidence process, not only fluent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single retrieval pass with an auditable, stateful research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local build is intentionally deterministic and modular; production providers remain explicit seams.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metadata-first search, deduplication, full-text arXiv path, and clearly marked abstract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the live local corpus snapshot captured on 20 August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debugger to show that retrieval quality is diagnosable rather than hidden behind a single relevance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research state: plan, retrieve, challenge, correct when needed, synthesize, and verify exact passages.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frontend can stay stable while local providers are replaced by hosted infrastructure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visible percentages are static UI demonstration values. Present the implemented metrics APIs and tests as verified capabilities, not the displayed percentages as measured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5 production infrastructure and Phase 7 scale were intentionally excluded by the project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distinction, then name the next quality milestone without expanding the deferred production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Evidensia AI local repository and source design, inspected 20 August 2026.</a:t>
            </a:r>
          </a:p>
          <a:p xmlns:a="http://schemas.openxmlformats.org/drawingml/2006/main">
            <a:r>
              <a:t>- Product screenshots captured from the local Research Studio at http://localhost:3000.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6a6a5a8384e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9abe2abfba47c3" /><Relationship Type="http://schemas.openxmlformats.org/officeDocument/2006/relationships/slideLayout" Target="/ppt/slideLayouts/slideLayout1.xml" Id="Red68ba148c3949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8ba148c3949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bdec2d6ab406e" /><Relationship Type="http://schemas.openxmlformats.org/officeDocument/2006/relationships/image" Target="/ppt/media/image.jpeg" Id="Rb8271087b5a04e74" /><Relationship Type="http://schemas.openxmlformats.org/officeDocument/2006/relationships/notesSlide" Target="/ppt/notesSlides/notesSlide1.xml" Id="R9ef24bcc236f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8250028bf4f60" /><Relationship Type="http://schemas.openxmlformats.org/officeDocument/2006/relationships/notesSlide" Target="/ppt/notesSlides/notesSlide2.xml" Id="Ra5867313f50d49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821330f364da7" /><Relationship Type="http://schemas.openxmlformats.org/officeDocument/2006/relationships/notesSlide" Target="/ppt/notesSlides/notesSlide3.xml" Id="Rb3be610a3de042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0a18ed9cd4576" /><Relationship Type="http://schemas.openxmlformats.org/officeDocument/2006/relationships/image" Target="/ppt/media/image2.jpeg" Id="R23f80a09174f4322" /><Relationship Type="http://schemas.openxmlformats.org/officeDocument/2006/relationships/notesSlide" Target="/ppt/notesSlides/notesSlide4.xml" Id="R250a34520b5540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d0a3f045e441f" /><Relationship Type="http://schemas.openxmlformats.org/officeDocument/2006/relationships/image" Target="/ppt/media/image3.jpeg" Id="R94969d324308475b" /><Relationship Type="http://schemas.openxmlformats.org/officeDocument/2006/relationships/notesSlide" Target="/ppt/notesSlides/notesSlide5.xml" Id="Rb57469dc76354f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7c2e866ee443f" /><Relationship Type="http://schemas.openxmlformats.org/officeDocument/2006/relationships/image" Target="/ppt/media/image4.jpeg" Id="R4cb297b5c42448a8" /><Relationship Type="http://schemas.openxmlformats.org/officeDocument/2006/relationships/notesSlide" Target="/ppt/notesSlides/notesSlide6.xml" Id="R7a876573b1174b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e3a445fb2446d" /><Relationship Type="http://schemas.openxmlformats.org/officeDocument/2006/relationships/image" Target="/ppt/media/image5.jpeg" Id="R50407683143d4b37" /><Relationship Type="http://schemas.openxmlformats.org/officeDocument/2006/relationships/notesSlide" Target="/ppt/notesSlides/notesSlide7.xml" Id="R9cb93b2708c341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b51b9615148d2" /><Relationship Type="http://schemas.openxmlformats.org/officeDocument/2006/relationships/notesSlide" Target="/ppt/notesSlides/notesSlide8.xml" Id="R3264e1a727a341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1e9ce05ef4bec" /><Relationship Type="http://schemas.openxmlformats.org/officeDocument/2006/relationships/image" Target="/ppt/media/image6.jpeg" Id="Rf76802fb859c4353" /><Relationship Type="http://schemas.openxmlformats.org/officeDocument/2006/relationships/notesSlide" Target="/ppt/notesSlides/notesSlide9.xml" Id="Rcaacbf805b534b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86cdb2e74d9f" /><Relationship Type="http://schemas.openxmlformats.org/officeDocument/2006/relationships/notesSlide" Target="/ppt/notesSlides/notesSlide10.xml" Id="R3ecadb51eabb43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33423d70745cf" /><Relationship Type="http://schemas.openxmlformats.org/officeDocument/2006/relationships/notesSlide" Target="/ppt/notesSlides/notesSlide11.xml" Id="Re2468ff0205540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E4664A2-57FF-4456-9C62-687260EA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5D"/>
          </a:solidFill>
          <a:ln xmlns:a="http://schemas.openxmlformats.org/drawingml/2006/main" w="0">
            <a:solidFill>
              <a:srgbClr val="D5E55D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B31BB7C-012D-43EA-AFF7-AD1C682F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AUTONOMOUS EVIDENCE INTELLIGENCE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AE4797-CB95-4241-B82A-962ECE62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23B2C"/>
                </a:solidFill>
              </a:defRPr>
            </a:pPr>
            <a:r>
              <a:rPr sz="4650" b="1" i="0">
                <a:solidFill>
                  <a:srgbClr val="123B2C"/>
                </a:solidFill>
              </a:rPr>
              <a:t>Evidensia AI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928308C-C926-4AB0-B208-A435CC73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8201B"/>
                </a:solidFill>
              </a:defRPr>
            </a:pPr>
            <a:r>
              <a:rPr sz="2250" b="1" i="0">
                <a:solidFill>
                  <a:srgbClr val="18201B"/>
                </a:solidFill>
              </a:rPr>
              <a:t>Research that shows its work.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C90448C9-C378-4691-BC4A-BEA9A733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7068"/>
                </a:solidFill>
              </a:defRPr>
            </a:pPr>
            <a:r>
              <a:rPr sz="1500" b="0" i="0">
                <a:solidFill>
                  <a:srgbClr val="657068"/>
                </a:solidFill>
              </a:rPr>
              <a:t>A local-first platform for scholarly discovery, hybrid retrieval, corrective investigation, and citation-checked evidence synthesis.</a:t>
            </a:r>
          </a:p>
        </p:txBody>
      </p:sp>
      <p:sp>
        <p:nvSpPr>
          <p:cNvPr id="6" name="cover-meta-band">
            <a:extLst xmlns:a="http://schemas.openxmlformats.org/drawingml/2006/main">
              <a:ext uri="{FF2B5EF4-FFF2-40B4-BE49-F238E27FC236}">
                <a16:creationId xmlns:a16="http://schemas.microsoft.com/office/drawing/2014/main" id="{2EFFC91B-5BAE-465E-A327-AD651CF0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466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EEF1EA"/>
            </a:solidFill>
            <a:prstDash val="solid"/>
          </a:ln>
        </p:spPr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5CD09AB3-7AC8-420F-A61B-2F103FC3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23B2C"/>
                </a:solidFill>
              </a:defRPr>
            </a:pPr>
            <a:r>
              <a:rPr sz="1125" b="1" i="0">
                <a:solidFill>
                  <a:srgbClr val="123B2C"/>
                </a:solidFill>
              </a:rPr>
              <a:t>PROJECT OVERVIEW</a:t>
            </a:r>
          </a:p>
          <a:p xmlns:a="http://schemas.openxmlformats.org/drawingml/2006/main">
            <a:pPr algn="l">
              <a:defRPr sz="1125" b="1" i="0">
                <a:solidFill>
                  <a:srgbClr val="123B2C"/>
                </a:solidFill>
              </a:defRPr>
            </a:pPr>
            <a:r>
              <a:rPr sz="1125" b="1" i="0">
                <a:solidFill>
                  <a:srgbClr val="123B2C"/>
                </a:solidFill>
              </a:rPr>
              <a:t>Working prototype · August 2026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71087b5a04e74"/>
          <a:srcRect xmlns:a="http://schemas.openxmlformats.org/drawingml/2006/main" l="21214" t="0" r="212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495300"/>
            <a:ext cx="5810250" cy="5676900"/>
          </a:xfrm>
          <a:prstGeom xmlns:a="http://schemas.openxmlformats.org/drawingml/2006/main" prst="roundRect">
            <a:avLst>
              <a:gd name="adj" fmla="val 1678"/>
            </a:avLst>
          </a:prstGeom>
        </p:spPr>
      </p:pic>
      <p:sp>
        <p:nvSpPr>
          <p:cNvPr id="9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12AFEC81-94A0-4613-AC8E-668310A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  /  PROJECT OVERVIEW</a:t>
            </a:r>
          </a:p>
        </p:txBody>
      </p:sp>
      <p:sp>
        <p:nvSpPr>
          <p:cNvPr id="10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0DB8308B-BE1F-43A2-9E74-4F6F1AA7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5776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89D864FF-1E6D-4532-A780-887EC3CA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WHY THIS EXISTS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42717AC-F713-40A9-B7E7-D3B7AEBD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8201B"/>
                </a:solidFill>
              </a:defRPr>
            </a:pPr>
            <a:r>
              <a:rPr sz="3000" b="1" i="0">
                <a:solidFill>
                  <a:srgbClr val="18201B"/>
                </a:solidFill>
              </a:rPr>
              <a:t>One-pass RAG is too fragile for serious research</a:t>
            </a:r>
          </a:p>
        </p:txBody>
      </p:sp>
      <p:sp>
        <p:nvSpPr>
          <p:cNvPr id="3" name="rule-58-151">
            <a:extLst xmlns:a="http://schemas.openxmlformats.org/drawingml/2006/main">
              <a:ext uri="{FF2B5EF4-FFF2-40B4-BE49-F238E27FC236}">
                <a16:creationId xmlns:a16="http://schemas.microsoft.com/office/drawing/2014/main" id="{5FEAC897-200A-4F0A-9AD3-BDCBEE67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B69E0286-CC9B-4CBF-9D44-9CBA757C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886EB695-9937-48FF-A2A1-0A9103AC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02</a:t>
            </a:r>
          </a:p>
        </p:txBody>
      </p:sp>
      <p:sp>
        <p:nvSpPr>
          <p:cNvPr id="6" name="traditional-label">
            <a:extLst xmlns:a="http://schemas.openxmlformats.org/drawingml/2006/main">
              <a:ext uri="{FF2B5EF4-FFF2-40B4-BE49-F238E27FC236}">
                <a16:creationId xmlns:a16="http://schemas.microsoft.com/office/drawing/2014/main" id="{96F566FA-80E8-4E57-9A05-2DFFAE5E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657068"/>
                </a:solidFill>
              </a:defRPr>
            </a:pPr>
            <a:r>
              <a:rPr sz="1125" b="1" i="0">
                <a:solidFill>
                  <a:srgbClr val="657068"/>
                </a:solidFill>
              </a:rPr>
              <a:t>TRADITIONAL RAG</a:t>
            </a:r>
          </a:p>
        </p:txBody>
      </p:sp>
      <p:sp>
        <p:nvSpPr>
          <p:cNvPr id="7" name="traditional-line">
            <a:extLst xmlns:a="http://schemas.openxmlformats.org/drawingml/2006/main">
              <a:ext uri="{FF2B5EF4-FFF2-40B4-BE49-F238E27FC236}">
                <a16:creationId xmlns:a16="http://schemas.microsoft.com/office/drawing/2014/main" id="{526B8A82-F44D-4487-88AA-265FF5CA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8201B"/>
                </a:solidFill>
              </a:defRPr>
            </a:pPr>
            <a:r>
              <a:rPr sz="1950" b="1" i="0">
                <a:solidFill>
                  <a:srgbClr val="18201B"/>
                </a:solidFill>
              </a:rPr>
              <a:t>Question  →  retrieve  →  generate</a:t>
            </a:r>
          </a:p>
        </p:txBody>
      </p:sp>
      <p:sp>
        <p:nvSpPr>
          <p:cNvPr id="8" name="traditional-body">
            <a:extLst xmlns:a="http://schemas.openxmlformats.org/drawingml/2006/main">
              <a:ext uri="{FF2B5EF4-FFF2-40B4-BE49-F238E27FC236}">
                <a16:creationId xmlns:a16="http://schemas.microsoft.com/office/drawing/2014/main" id="{8C91C8D3-3947-47E7-85C9-E1AEB5A4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476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57068"/>
                </a:solidFill>
              </a:defRPr>
            </a:pPr>
            <a:r>
              <a:rPr sz="1500" b="0" i="0">
                <a:solidFill>
                  <a:srgbClr val="657068"/>
                </a:solidFill>
              </a:rPr>
              <a:t>Fast for lookup, but weak when the question is multi-hop, the evidence conflicts, or the answer needs to be audited.</a:t>
            </a:r>
          </a:p>
        </p:txBody>
      </p:sp>
      <p:sp>
        <p:nvSpPr>
          <p:cNvPr id="9" name="mid-rule">
            <a:extLst xmlns:a="http://schemas.openxmlformats.org/drawingml/2006/main">
              <a:ext uri="{FF2B5EF4-FFF2-40B4-BE49-F238E27FC236}">
                <a16:creationId xmlns:a16="http://schemas.microsoft.com/office/drawing/2014/main" id="{8AD6B6A1-5B43-4A69-9A27-9E09D44A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716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10" name="evidensia-label">
            <a:extLst xmlns:a="http://schemas.openxmlformats.org/drawingml/2006/main">
              <a:ext uri="{FF2B5EF4-FFF2-40B4-BE49-F238E27FC236}">
                <a16:creationId xmlns:a16="http://schemas.microsoft.com/office/drawing/2014/main" id="{4D74AD09-5761-4E29-8DBF-D60AECD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C533E"/>
                </a:solidFill>
              </a:defRPr>
            </a:pPr>
            <a:r>
              <a:rPr sz="1125" b="1" i="0">
                <a:solidFill>
                  <a:srgbClr val="1C533E"/>
                </a:solidFill>
              </a:rPr>
              <a:t>EVIDENSIA</a:t>
            </a:r>
          </a:p>
        </p:txBody>
      </p:sp>
      <p:sp>
        <p:nvSpPr>
          <p:cNvPr id="11" name="evidensia-line">
            <a:extLst xmlns:a="http://schemas.openxmlformats.org/drawingml/2006/main">
              <a:ext uri="{FF2B5EF4-FFF2-40B4-BE49-F238E27FC236}">
                <a16:creationId xmlns:a16="http://schemas.microsoft.com/office/drawing/2014/main" id="{AACE153D-CC36-43CB-BA52-854B304D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481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23B2C"/>
                </a:solidFill>
              </a:defRPr>
            </a:pPr>
            <a:r>
              <a:rPr sz="1950" b="1" i="0">
                <a:solidFill>
                  <a:srgbClr val="123B2C"/>
                </a:solidFill>
              </a:rPr>
              <a:t>Plan  →  search  →  challenge  →  verify</a:t>
            </a:r>
          </a:p>
        </p:txBody>
      </p:sp>
      <p:sp>
        <p:nvSpPr>
          <p:cNvPr id="12" name="evidensia-body">
            <a:extLst xmlns:a="http://schemas.openxmlformats.org/drawingml/2006/main">
              <a:ext uri="{FF2B5EF4-FFF2-40B4-BE49-F238E27FC236}">
                <a16:creationId xmlns:a16="http://schemas.microsoft.com/office/drawing/2014/main" id="{03255802-67FA-4836-8761-50DAF047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8201B"/>
                </a:solidFill>
              </a:defRPr>
            </a:pPr>
            <a:r>
              <a:rPr sz="1500" b="0" i="0">
                <a:solidFill>
                  <a:srgbClr val="18201B"/>
                </a:solidFill>
              </a:rPr>
              <a:t>The system decomposes the investigation, finds supporting and opposing passages, corrects weak retrieval, and exposes exact source spans.</a:t>
            </a:r>
          </a:p>
        </p:txBody>
      </p:sp>
      <p:sp>
        <p:nvSpPr>
          <p:cNvPr id="13" name="thesis-band">
            <a:extLst xmlns:a="http://schemas.openxmlformats.org/drawingml/2006/main">
              <a:ext uri="{FF2B5EF4-FFF2-40B4-BE49-F238E27FC236}">
                <a16:creationId xmlns:a16="http://schemas.microsoft.com/office/drawing/2014/main" id="{C2DB2E1B-182C-4E19-87B1-19CBFEAA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625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EEF1EA"/>
            </a:solidFill>
            <a:prstDash val="solid"/>
          </a:ln>
        </p:spPr>
      </p:sp>
      <p:sp>
        <p:nvSpPr>
          <p:cNvPr id="14" name="thesis">
            <a:extLst xmlns:a="http://schemas.openxmlformats.org/drawingml/2006/main">
              <a:ext uri="{FF2B5EF4-FFF2-40B4-BE49-F238E27FC236}">
                <a16:creationId xmlns:a16="http://schemas.microsoft.com/office/drawing/2014/main" id="{4A96CFB4-CF43-47A4-AAE4-D36560A7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434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B2C"/>
                </a:solidFill>
              </a:defRPr>
            </a:pPr>
            <a:r>
              <a:rPr sz="1500" b="1" i="0">
                <a:solidFill>
                  <a:srgbClr val="123B2C"/>
                </a:solidFill>
              </a:rPr>
              <a:t>The output is an evidence-backed argument—not a confident black box.</a:t>
            </a:r>
          </a:p>
        </p:txBody>
      </p:sp>
    </p:spTree>
    <p:extLst>
      <p:ext uri="{BB962C8B-B14F-4D97-AF65-F5344CB8AC3E}">
        <p14:creationId xmlns:p14="http://schemas.microsoft.com/office/powerpoint/2010/main" val="1114542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3">
            <a:extLst xmlns:a="http://schemas.openxmlformats.org/drawingml/2006/main">
              <a:ext uri="{FF2B5EF4-FFF2-40B4-BE49-F238E27FC236}">
                <a16:creationId xmlns:a16="http://schemas.microsoft.com/office/drawing/2014/main" id="{EBC1EA48-7D9E-40C2-B371-F8550AD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SYSTEM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76C47A9-FBD9-4664-9B8D-9BC53E93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8201B"/>
                </a:solidFill>
              </a:defRPr>
            </a:pPr>
            <a:r>
              <a:rPr sz="3000" b="1" i="0">
                <a:solidFill>
                  <a:srgbClr val="18201B"/>
                </a:solidFill>
              </a:rPr>
              <a:t>Stable contracts keep the prototype replaceable</a:t>
            </a:r>
          </a:p>
        </p:txBody>
      </p:sp>
      <p:sp>
        <p:nvSpPr>
          <p:cNvPr id="3" name="rule-58-151">
            <a:extLst xmlns:a="http://schemas.openxmlformats.org/drawingml/2006/main">
              <a:ext uri="{FF2B5EF4-FFF2-40B4-BE49-F238E27FC236}">
                <a16:creationId xmlns:a16="http://schemas.microsoft.com/office/drawing/2014/main" id="{6E6846DE-E6A9-42F8-9885-09925CB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4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DD681E8F-78C7-40F7-BCB8-96993C66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0493BB7D-E9AD-4DE1-9D7C-321AE8E2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03</a:t>
            </a:r>
          </a:p>
        </p:txBody>
      </p:sp>
      <p:cxnSp>
        <p:nvCxnSpPr>
          <p:cNvPr id="38" name="arch-flow-1"/>
          <p:cNvCxnSpPr/>
          <p:nvPr/>
        </p:nvCxnSpPr>
        <p:spPr>
          <a:xfrm xmlns:a="http://schemas.openxmlformats.org/drawingml/2006/main">
            <a:off x="1714500" y="31718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4CBC3"/>
            </a:solidFill>
            <a:prstDash val="solid"/>
          </a:ln>
        </p:spPr>
      </p:cxnSp>
      <p:cxnSp>
        <p:nvCxnSpPr>
          <p:cNvPr id="39" name="arch-flow-2"/>
          <p:cNvCxnSpPr/>
          <p:nvPr/>
        </p:nvCxnSpPr>
        <p:spPr>
          <a:xfrm xmlns:a="http://schemas.openxmlformats.org/drawingml/2006/main">
            <a:off x="3981450" y="31718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4CBC3"/>
            </a:solidFill>
            <a:prstDash val="solid"/>
          </a:ln>
        </p:spPr>
      </p:cxnSp>
      <p:cxnSp>
        <p:nvCxnSpPr>
          <p:cNvPr id="40" name="arch-flow-3"/>
          <p:cNvCxnSpPr/>
          <p:nvPr/>
        </p:nvCxnSpPr>
        <p:spPr>
          <a:xfrm xmlns:a="http://schemas.openxmlformats.org/drawingml/2006/main">
            <a:off x="6248400" y="31718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4CBC3"/>
            </a:solidFill>
            <a:prstDash val="solid"/>
          </a:ln>
        </p:spPr>
      </p:cxnSp>
      <p:cxnSp>
        <p:nvCxnSpPr>
          <p:cNvPr id="41" name="arch-flow-4"/>
          <p:cNvCxnSpPr/>
          <p:nvPr/>
        </p:nvCxnSpPr>
        <p:spPr>
          <a:xfrm xmlns:a="http://schemas.openxmlformats.org/drawingml/2006/main">
            <a:off x="8515350" y="31718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4CBC3"/>
            </a:solidFill>
            <a:prstDash val="solid"/>
          </a:ln>
        </p:spPr>
      </p:cxnSp>
      <p:sp>
        <p:nvSpPr>
          <p:cNvPr id="10" name="node-01">
            <a:extLst xmlns:a="http://schemas.openxmlformats.org/drawingml/2006/main">
              <a:ext uri="{FF2B5EF4-FFF2-40B4-BE49-F238E27FC236}">
                <a16:creationId xmlns:a16="http://schemas.microsoft.com/office/drawing/2014/main" id="{CFD02D2D-63CA-4E8F-B553-3DD8C1C4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809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C4CBC3"/>
            </a:solidFill>
            <a:prstDash val="solid"/>
          </a:ln>
        </p:spPr>
      </p:sp>
      <p:sp>
        <p:nvSpPr>
          <p:cNvPr id="11" name="node-num-01">
            <a:extLst xmlns:a="http://schemas.openxmlformats.org/drawingml/2006/main">
              <a:ext uri="{FF2B5EF4-FFF2-40B4-BE49-F238E27FC236}">
                <a16:creationId xmlns:a16="http://schemas.microsoft.com/office/drawing/2014/main" id="{FB004297-464E-43A9-8DDF-B2E8A261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533E"/>
                </a:solidFill>
              </a:defRPr>
            </a:pPr>
            <a:r>
              <a:rPr sz="975" b="1" i="0">
                <a:solidFill>
                  <a:srgbClr val="1C533E"/>
                </a:solidFill>
              </a:rPr>
              <a:t>01</a:t>
            </a:r>
          </a:p>
        </p:txBody>
      </p:sp>
      <p:sp>
        <p:nvSpPr>
          <p:cNvPr id="12" name="node-title-01">
            <a:extLst xmlns:a="http://schemas.openxmlformats.org/drawingml/2006/main">
              <a:ext uri="{FF2B5EF4-FFF2-40B4-BE49-F238E27FC236}">
                <a16:creationId xmlns:a16="http://schemas.microsoft.com/office/drawing/2014/main" id="{30516861-83AB-4347-B281-227574E1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201B"/>
                </a:solidFill>
              </a:defRPr>
            </a:pPr>
            <a:r>
              <a:rPr sz="1500" b="1" i="0">
                <a:solidFill>
                  <a:srgbClr val="18201B"/>
                </a:solidFill>
              </a:rPr>
              <a:t>Research Studio</a:t>
            </a:r>
          </a:p>
        </p:txBody>
      </p:sp>
      <p:sp>
        <p:nvSpPr>
          <p:cNvPr id="13" name="node-sub-01">
            <a:extLst xmlns:a="http://schemas.openxmlformats.org/drawingml/2006/main">
              <a:ext uri="{FF2B5EF4-FFF2-40B4-BE49-F238E27FC236}">
                <a16:creationId xmlns:a16="http://schemas.microsoft.com/office/drawing/2014/main" id="{AD9D7312-1B27-4167-8658-9DB2942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57068"/>
                </a:solidFill>
              </a:defRPr>
            </a:pPr>
            <a:r>
              <a:rPr sz="1050" b="0" i="0">
                <a:solidFill>
                  <a:srgbClr val="657068"/>
                </a:solidFill>
              </a:rPr>
              <a:t>React interface</a:t>
            </a:r>
          </a:p>
        </p:txBody>
      </p:sp>
      <p:sp>
        <p:nvSpPr>
          <p:cNvPr id="14" name="node-02">
            <a:extLst xmlns:a="http://schemas.openxmlformats.org/drawingml/2006/main">
              <a:ext uri="{FF2B5EF4-FFF2-40B4-BE49-F238E27FC236}">
                <a16:creationId xmlns:a16="http://schemas.microsoft.com/office/drawing/2014/main" id="{6ABCA264-D5FD-4223-974B-8EA59746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1809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C4CBC3"/>
            </a:solidFill>
            <a:prstDash val="solid"/>
          </a:ln>
        </p:spPr>
      </p:sp>
      <p:sp>
        <p:nvSpPr>
          <p:cNvPr id="15" name="node-num-02">
            <a:extLst xmlns:a="http://schemas.openxmlformats.org/drawingml/2006/main">
              <a:ext uri="{FF2B5EF4-FFF2-40B4-BE49-F238E27FC236}">
                <a16:creationId xmlns:a16="http://schemas.microsoft.com/office/drawing/2014/main" id="{2D7B1DA3-B967-434A-A518-CF6729CF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533E"/>
                </a:solidFill>
              </a:defRPr>
            </a:pPr>
            <a:r>
              <a:rPr sz="975" b="1" i="0">
                <a:solidFill>
                  <a:srgbClr val="1C533E"/>
                </a:solidFill>
              </a:rPr>
              <a:t>02</a:t>
            </a:r>
          </a:p>
        </p:txBody>
      </p:sp>
      <p:sp>
        <p:nvSpPr>
          <p:cNvPr id="16" name="node-title-02">
            <a:extLst xmlns:a="http://schemas.openxmlformats.org/drawingml/2006/main">
              <a:ext uri="{FF2B5EF4-FFF2-40B4-BE49-F238E27FC236}">
                <a16:creationId xmlns:a16="http://schemas.microsoft.com/office/drawing/2014/main" id="{17F63D25-A02E-439A-8B78-1AD07A4B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71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201B"/>
                </a:solidFill>
              </a:defRPr>
            </a:pPr>
            <a:r>
              <a:rPr sz="1500" b="1" i="0">
                <a:solidFill>
                  <a:srgbClr val="18201B"/>
                </a:solidFill>
              </a:rPr>
              <a:t>FastAPI</a:t>
            </a:r>
          </a:p>
        </p:txBody>
      </p:sp>
      <p:sp>
        <p:nvSpPr>
          <p:cNvPr id="17" name="node-sub-02">
            <a:extLst xmlns:a="http://schemas.openxmlformats.org/drawingml/2006/main">
              <a:ext uri="{FF2B5EF4-FFF2-40B4-BE49-F238E27FC236}">
                <a16:creationId xmlns:a16="http://schemas.microsoft.com/office/drawing/2014/main" id="{298A8483-B1C5-41A2-9F46-C802F32B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29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57068"/>
                </a:solidFill>
              </a:defRPr>
            </a:pPr>
            <a:r>
              <a:rPr sz="1050" b="0" i="0">
                <a:solidFill>
                  <a:srgbClr val="657068"/>
                </a:solidFill>
              </a:rPr>
              <a:t>Structured API</a:t>
            </a:r>
          </a:p>
        </p:txBody>
      </p:sp>
      <p:sp>
        <p:nvSpPr>
          <p:cNvPr id="18" name="node-03">
            <a:extLst xmlns:a="http://schemas.openxmlformats.org/drawingml/2006/main">
              <a:ext uri="{FF2B5EF4-FFF2-40B4-BE49-F238E27FC236}">
                <a16:creationId xmlns:a16="http://schemas.microsoft.com/office/drawing/2014/main" id="{212AD2C4-700F-49C6-8D2E-60D1A213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1809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C533E"/>
          </a:solidFill>
          <a:ln xmlns:a="http://schemas.openxmlformats.org/drawingml/2006/main" w="9525">
            <a:solidFill>
              <a:srgbClr val="1C533E"/>
            </a:solidFill>
            <a:prstDash val="solid"/>
          </a:ln>
        </p:spPr>
      </p:sp>
      <p:sp>
        <p:nvSpPr>
          <p:cNvPr id="19" name="node-num-03">
            <a:extLst xmlns:a="http://schemas.openxmlformats.org/drawingml/2006/main">
              <a:ext uri="{FF2B5EF4-FFF2-40B4-BE49-F238E27FC236}">
                <a16:creationId xmlns:a16="http://schemas.microsoft.com/office/drawing/2014/main" id="{B1390CDD-4B53-43B4-9B44-5273AB0E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0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E55D"/>
                </a:solidFill>
              </a:defRPr>
            </a:pPr>
            <a:r>
              <a:rPr sz="975" b="1" i="0">
                <a:solidFill>
                  <a:srgbClr val="D5E55D"/>
                </a:solidFill>
              </a:rPr>
              <a:t>03</a:t>
            </a:r>
          </a:p>
        </p:txBody>
      </p:sp>
      <p:sp>
        <p:nvSpPr>
          <p:cNvPr id="20" name="node-title-03">
            <a:extLst xmlns:a="http://schemas.openxmlformats.org/drawingml/2006/main">
              <a:ext uri="{FF2B5EF4-FFF2-40B4-BE49-F238E27FC236}">
                <a16:creationId xmlns:a16="http://schemas.microsoft.com/office/drawing/2014/main" id="{CA2EA42C-444E-4149-B32A-086D4336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71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21" name="node-sub-03">
            <a:extLst xmlns:a="http://schemas.openxmlformats.org/drawingml/2006/main">
              <a:ext uri="{FF2B5EF4-FFF2-40B4-BE49-F238E27FC236}">
                <a16:creationId xmlns:a16="http://schemas.microsoft.com/office/drawing/2014/main" id="{C6B6E9E7-9944-4967-81B6-FDBDDA3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29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FFFFF"/>
                </a:solidFill>
              </a:defRPr>
            </a:pPr>
            <a:r>
              <a:rPr sz="1050" b="0" i="0">
                <a:solidFill>
                  <a:srgbClr val="FFFFFF"/>
                </a:solidFill>
              </a:rPr>
              <a:t>Corrective workflow</a:t>
            </a:r>
          </a:p>
        </p:txBody>
      </p:sp>
      <p:sp>
        <p:nvSpPr>
          <p:cNvPr id="22" name="node-04">
            <a:extLst xmlns:a="http://schemas.openxmlformats.org/drawingml/2006/main">
              <a:ext uri="{FF2B5EF4-FFF2-40B4-BE49-F238E27FC236}">
                <a16:creationId xmlns:a16="http://schemas.microsoft.com/office/drawing/2014/main" id="{40F4A645-B1A5-4210-BF1A-E2F49732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1809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C4CBC3"/>
            </a:solidFill>
            <a:prstDash val="solid"/>
          </a:ln>
        </p:spPr>
      </p:sp>
      <p:sp>
        <p:nvSpPr>
          <p:cNvPr id="23" name="node-num-04">
            <a:extLst xmlns:a="http://schemas.openxmlformats.org/drawingml/2006/main">
              <a:ext uri="{FF2B5EF4-FFF2-40B4-BE49-F238E27FC236}">
                <a16:creationId xmlns:a16="http://schemas.microsoft.com/office/drawing/2014/main" id="{1AFD26D3-301D-482D-8E7D-001C3E40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533E"/>
                </a:solidFill>
              </a:defRPr>
            </a:pPr>
            <a:r>
              <a:rPr sz="975" b="1" i="0">
                <a:solidFill>
                  <a:srgbClr val="1C533E"/>
                </a:solidFill>
              </a:rPr>
              <a:t>04</a:t>
            </a:r>
          </a:p>
        </p:txBody>
      </p:sp>
      <p:sp>
        <p:nvSpPr>
          <p:cNvPr id="24" name="node-title-04">
            <a:extLst xmlns:a="http://schemas.openxmlformats.org/drawingml/2006/main">
              <a:ext uri="{FF2B5EF4-FFF2-40B4-BE49-F238E27FC236}">
                <a16:creationId xmlns:a16="http://schemas.microsoft.com/office/drawing/2014/main" id="{3A87B715-A6F7-4E6C-A752-A8CC4553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201B"/>
                </a:solidFill>
              </a:defRPr>
            </a:pPr>
            <a:r>
              <a:rPr sz="1500" b="1" i="0">
                <a:solidFill>
                  <a:srgbClr val="18201B"/>
                </a:solidFill>
              </a:rPr>
              <a:t>Retrieval</a:t>
            </a:r>
          </a:p>
        </p:txBody>
      </p:sp>
      <p:sp>
        <p:nvSpPr>
          <p:cNvPr id="25" name="node-sub-04">
            <a:extLst xmlns:a="http://schemas.openxmlformats.org/drawingml/2006/main">
              <a:ext uri="{FF2B5EF4-FFF2-40B4-BE49-F238E27FC236}">
                <a16:creationId xmlns:a16="http://schemas.microsoft.com/office/drawing/2014/main" id="{59353E79-4910-4ACE-90D3-B09204C7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57068"/>
                </a:solidFill>
              </a:defRPr>
            </a:pPr>
            <a:r>
              <a:rPr sz="1050" b="0" i="0">
                <a:solidFill>
                  <a:srgbClr val="657068"/>
                </a:solidFill>
              </a:rPr>
              <a:t>Dense + BM25 + RRF</a:t>
            </a:r>
          </a:p>
        </p:txBody>
      </p:sp>
      <p:sp>
        <p:nvSpPr>
          <p:cNvPr id="26" name="node-05">
            <a:extLst xmlns:a="http://schemas.openxmlformats.org/drawingml/2006/main">
              <a:ext uri="{FF2B5EF4-FFF2-40B4-BE49-F238E27FC236}">
                <a16:creationId xmlns:a16="http://schemas.microsoft.com/office/drawing/2014/main" id="{292CB758-E845-44E4-B271-E208F442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57450"/>
            <a:ext cx="1809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1EA"/>
          </a:solidFill>
          <a:ln xmlns:a="http://schemas.openxmlformats.org/drawingml/2006/main" w="9525">
            <a:solidFill>
              <a:srgbClr val="C4CBC3"/>
            </a:solidFill>
            <a:prstDash val="solid"/>
          </a:ln>
        </p:spPr>
      </p:sp>
      <p:sp>
        <p:nvSpPr>
          <p:cNvPr id="27" name="node-num-05">
            <a:extLst xmlns:a="http://schemas.openxmlformats.org/drawingml/2006/main">
              <a:ext uri="{FF2B5EF4-FFF2-40B4-BE49-F238E27FC236}">
                <a16:creationId xmlns:a16="http://schemas.microsoft.com/office/drawing/2014/main" id="{2D622245-0F1C-49FA-B243-9529AA76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0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533E"/>
                </a:solidFill>
              </a:defRPr>
            </a:pPr>
            <a:r>
              <a:rPr sz="975" b="1" i="0">
                <a:solidFill>
                  <a:srgbClr val="1C533E"/>
                </a:solidFill>
              </a:rPr>
              <a:t>05</a:t>
            </a:r>
          </a:p>
        </p:txBody>
      </p:sp>
      <p:sp>
        <p:nvSpPr>
          <p:cNvPr id="28" name="node-title-05">
            <a:extLst xmlns:a="http://schemas.openxmlformats.org/drawingml/2006/main">
              <a:ext uri="{FF2B5EF4-FFF2-40B4-BE49-F238E27FC236}">
                <a16:creationId xmlns:a16="http://schemas.microsoft.com/office/drawing/2014/main" id="{5F65D76A-7D36-46E6-9DA7-72A793E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718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201B"/>
                </a:solidFill>
              </a:defRPr>
            </a:pPr>
            <a:r>
              <a:rPr sz="1500" b="1" i="0">
                <a:solidFill>
                  <a:srgbClr val="18201B"/>
                </a:solidFill>
              </a:rPr>
              <a:t>Evidence index</a:t>
            </a:r>
          </a:p>
        </p:txBody>
      </p:sp>
      <p:sp>
        <p:nvSpPr>
          <p:cNvPr id="29" name="node-sub-05">
            <a:extLst xmlns:a="http://schemas.openxmlformats.org/drawingml/2006/main">
              <a:ext uri="{FF2B5EF4-FFF2-40B4-BE49-F238E27FC236}">
                <a16:creationId xmlns:a16="http://schemas.microsoft.com/office/drawing/2014/main" id="{0C32587E-C92F-40E9-972C-7343351F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29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57068"/>
                </a:solidFill>
              </a:defRPr>
            </a:pPr>
            <a:r>
              <a:rPr sz="1050" b="0" i="0">
                <a:solidFill>
                  <a:srgbClr val="657068"/>
                </a:solidFill>
              </a:rPr>
              <a:t>Local persistence</a:t>
            </a:r>
          </a:p>
        </p:txBody>
      </p:sp>
      <p:sp>
        <p:nvSpPr>
          <p:cNvPr id="30" name="provider-band">
            <a:extLst xmlns:a="http://schemas.openxmlformats.org/drawingml/2006/main">
              <a:ext uri="{FF2B5EF4-FFF2-40B4-BE49-F238E27FC236}">
                <a16:creationId xmlns:a16="http://schemas.microsoft.com/office/drawing/2014/main" id="{0206A519-6754-4C8B-9A52-8F3F51E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77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EE"/>
          </a:solidFill>
          <a:ln xmlns:a="http://schemas.openxmlformats.org/drawingml/2006/main" w="0">
            <a:solidFill>
              <a:srgbClr val="F5F5EE"/>
            </a:solidFill>
            <a:prstDash val="solid"/>
          </a:ln>
        </p:spPr>
      </p:sp>
      <p:sp>
        <p:nvSpPr>
          <p:cNvPr id="31" name="provider-label">
            <a:extLst xmlns:a="http://schemas.openxmlformats.org/drawingml/2006/main">
              <a:ext uri="{FF2B5EF4-FFF2-40B4-BE49-F238E27FC236}">
                <a16:creationId xmlns:a16="http://schemas.microsoft.com/office/drawing/2014/main" id="{8D03E648-9FE9-4607-8017-6458B3BD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533E"/>
                </a:solidFill>
              </a:defRPr>
            </a:pPr>
            <a:r>
              <a:rPr sz="975" b="1" i="0">
                <a:solidFill>
                  <a:srgbClr val="1C533E"/>
                </a:solidFill>
              </a:rPr>
              <a:t>PROVIDER SEAMS</a:t>
            </a:r>
          </a:p>
        </p:txBody>
      </p:sp>
      <p:sp>
        <p:nvSpPr>
          <p:cNvPr id="32" name="provider-text">
            <a:extLst xmlns:a="http://schemas.openxmlformats.org/drawingml/2006/main">
              <a:ext uri="{FF2B5EF4-FFF2-40B4-BE49-F238E27FC236}">
                <a16:creationId xmlns:a16="http://schemas.microsoft.com/office/drawing/2014/main" id="{9DED16E0-1152-4418-9BEE-F36BCCDE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01B"/>
                </a:solidFill>
              </a:defRPr>
            </a:pPr>
            <a:r>
              <a:rPr sz="1350" b="0" i="0">
                <a:solidFill>
                  <a:srgbClr val="18201B"/>
                </a:solidFill>
              </a:rPr>
              <a:t>Hosted embeddings, reranking, model-backed agents, PostgreSQL, Redis, and object storage can replace local baselines without changing the user-facing research contract.</a:t>
            </a:r>
          </a:p>
        </p:txBody>
      </p:sp>
    </p:spTree>
    <p:extLst>
      <p:ext uri="{BB962C8B-B14F-4D97-AF65-F5344CB8AC3E}">
        <p14:creationId xmlns:p14="http://schemas.microsoft.com/office/powerpoint/2010/main" val="1207586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4">
            <a:extLst xmlns:a="http://schemas.openxmlformats.org/drawingml/2006/main">
              <a:ext uri="{FF2B5EF4-FFF2-40B4-BE49-F238E27FC236}">
                <a16:creationId xmlns:a16="http://schemas.microsoft.com/office/drawing/2014/main" id="{4A27C3A8-F3C4-4734-A53F-E5171827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SCHOLARLY DISCOVERY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9AB0452-36B3-4D2A-91DE-1AB57027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8201B"/>
                </a:solidFill>
              </a:defRPr>
            </a:pPr>
            <a:r>
              <a:rPr sz="3000" b="1" i="0">
                <a:solidFill>
                  <a:srgbClr val="18201B"/>
                </a:solidFill>
              </a:rPr>
              <a:t>Recent AI papers can flow directly into the evidence library</a:t>
            </a:r>
          </a:p>
        </p:txBody>
      </p:sp>
      <p:sp>
        <p:nvSpPr>
          <p:cNvPr id="3" name="rule-58-151">
            <a:extLst xmlns:a="http://schemas.openxmlformats.org/drawingml/2006/main">
              <a:ext uri="{FF2B5EF4-FFF2-40B4-BE49-F238E27FC236}">
                <a16:creationId xmlns:a16="http://schemas.microsoft.com/office/drawing/2014/main" id="{DA70BE23-F6C5-429F-81DC-394EFF41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4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476C94DB-549E-4614-A4BD-766361BE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D1DC03AB-9A49-4F10-939B-7AD0A8B1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80a09174f4322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7524750" cy="4229100"/>
          </a:xfrm>
          <a:prstGeom xmlns:a="http://schemas.openxmlformats.org/drawingml/2006/main" prst="roundRect">
            <a:avLst>
              <a:gd name="adj" fmla="val 1351"/>
            </a:avLst>
          </a:prstGeom>
        </p:spPr>
      </p:pic>
      <p:sp>
        <p:nvSpPr>
          <p:cNvPr id="7" name="discover-stat">
            <a:extLst xmlns:a="http://schemas.openxmlformats.org/drawingml/2006/main">
              <a:ext uri="{FF2B5EF4-FFF2-40B4-BE49-F238E27FC236}">
                <a16:creationId xmlns:a16="http://schemas.microsoft.com/office/drawing/2014/main" id="{84C238E9-0271-4819-9E0D-5DB10BFC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23B2C"/>
                </a:solidFill>
              </a:defRPr>
            </a:pPr>
            <a:r>
              <a:rPr sz="4050" b="1" i="0">
                <a:solidFill>
                  <a:srgbClr val="123B2C"/>
                </a:solidFill>
              </a:rPr>
              <a:t>30</a:t>
            </a:r>
          </a:p>
        </p:txBody>
      </p:sp>
      <p:sp>
        <p:nvSpPr>
          <p:cNvPr id="8" name="discover-stat-label">
            <a:extLst xmlns:a="http://schemas.openxmlformats.org/drawingml/2006/main">
              <a:ext uri="{FF2B5EF4-FFF2-40B4-BE49-F238E27FC236}">
                <a16:creationId xmlns:a16="http://schemas.microsoft.com/office/drawing/2014/main" id="{A5999870-40C0-449F-AAF1-E470B639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68"/>
                </a:solidFill>
              </a:defRPr>
            </a:pPr>
            <a:r>
              <a:rPr sz="1350" b="0" i="0">
                <a:solidFill>
                  <a:srgbClr val="657068"/>
                </a:solidFill>
              </a:rPr>
              <a:t>unique arXiv results</a:t>
            </a:r>
          </a:p>
          <a:p xmlns:a="http://schemas.openxmlformats.org/drawingml/2006/main">
            <a:pPr algn="l">
              <a:defRPr sz="1350" b="0" i="0">
                <a:solidFill>
                  <a:srgbClr val="657068"/>
                </a:solidFill>
              </a:defRPr>
            </a:pPr>
            <a:r>
              <a:rPr sz="1350" b="0" i="0">
                <a:solidFill>
                  <a:srgbClr val="657068"/>
                </a:solidFill>
              </a:rPr>
              <a:t>in the captured query</a:t>
            </a:r>
          </a:p>
        </p:txBody>
      </p:sp>
      <p:sp>
        <p:nvSpPr>
          <p:cNvPr id="9" name="rule-910-362">
            <a:extLst xmlns:a="http://schemas.openxmlformats.org/drawingml/2006/main">
              <a:ext uri="{FF2B5EF4-FFF2-40B4-BE49-F238E27FC236}">
                <a16:creationId xmlns:a16="http://schemas.microsoft.com/office/drawing/2014/main" id="{4A60C41A-2027-4C76-B7BA-ED100F66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10" name="discover-points">
            <a:extLst xmlns:a="http://schemas.openxmlformats.org/drawingml/2006/main">
              <a:ext uri="{FF2B5EF4-FFF2-40B4-BE49-F238E27FC236}">
                <a16:creationId xmlns:a16="http://schemas.microsoft.com/office/drawing/2014/main" id="{523E877B-9301-46D2-B347-352B64C1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33800"/>
            <a:ext cx="26670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201B"/>
                </a:solidFill>
              </a:defRPr>
            </a:pPr>
            <a:r>
              <a:rPr sz="1350" b="1" i="0">
                <a:solidFill>
                  <a:srgbClr val="18201B"/>
                </a:solidFill>
              </a:rPr>
              <a:t>2025–2026 date bounds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8201B"/>
                </a:solidFill>
              </a:defRPr>
            </a:pPr>
            <a:r>
              <a:rPr sz="1350" b="1" i="0">
                <a:solidFill>
                  <a:srgbClr val="18201B"/>
                </a:solidFill>
              </a:rPr>
              <a:t>Full-text arXiv extraction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8201B"/>
                </a:solidFill>
              </a:defRPr>
            </a:pPr>
            <a:r>
              <a:rPr sz="1350" b="1" i="0">
                <a:solidFill>
                  <a:srgbClr val="18201B"/>
                </a:solidFill>
              </a:rPr>
              <a:t>OpenAlex abstract fallback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8201B"/>
                </a:solidFill>
              </a:defRPr>
            </a:pPr>
            <a:r>
              <a:rPr sz="1350" b="1" i="0">
                <a:solidFill>
                  <a:srgbClr val="18201B"/>
                </a:solidFill>
              </a:rPr>
              <a:t>DOI / title deduplication</a:t>
            </a:r>
          </a:p>
        </p:txBody>
      </p:sp>
    </p:spTree>
    <p:extLst>
      <p:ext uri="{BB962C8B-B14F-4D97-AF65-F5344CB8AC3E}">
        <p14:creationId xmlns:p14="http://schemas.microsoft.com/office/powerpoint/2010/main" val="602980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5">
            <a:extLst xmlns:a="http://schemas.openxmlformats.org/drawingml/2006/main">
              <a:ext uri="{FF2B5EF4-FFF2-40B4-BE49-F238E27FC236}">
                <a16:creationId xmlns:a16="http://schemas.microsoft.com/office/drawing/2014/main" id="{8F6BB8F1-15EF-46CD-8C96-66C84A0B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EVIDENCE FOUNDATION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FF92C6A-CD07-4A81-84DD-E0AF4226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8201B"/>
                </a:solidFill>
              </a:defRPr>
            </a:pPr>
            <a:r>
              <a:rPr sz="3000" b="1" i="0">
                <a:solidFill>
                  <a:srgbClr val="18201B"/>
                </a:solidFill>
              </a:rPr>
              <a:t>The source library is persistent, visible, and growing</a:t>
            </a:r>
          </a:p>
        </p:txBody>
      </p:sp>
      <p:sp>
        <p:nvSpPr>
          <p:cNvPr id="3" name="rule-58-151">
            <a:extLst xmlns:a="http://schemas.openxmlformats.org/drawingml/2006/main">
              <a:ext uri="{FF2B5EF4-FFF2-40B4-BE49-F238E27FC236}">
                <a16:creationId xmlns:a16="http://schemas.microsoft.com/office/drawing/2014/main" id="{A341BBA2-5C17-4916-B267-934F3D92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63E2ECD-92DC-404F-A463-EA662DC9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FBBC270F-7F30-4C86-8CBF-B095A198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05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69d32430847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7620000" cy="4286250"/>
          </a:xfrm>
          <a:prstGeom xmlns:a="http://schemas.openxmlformats.org/drawingml/2006/main" prst="roundRect">
            <a:avLst>
              <a:gd name="adj" fmla="val 1333"/>
            </a:avLst>
          </a:prstGeom>
        </p:spPr>
      </p:pic>
      <p:sp>
        <p:nvSpPr>
          <p:cNvPr id="7" name="library-stat-1">
            <a:extLst xmlns:a="http://schemas.openxmlformats.org/drawingml/2006/main">
              <a:ext uri="{FF2B5EF4-FFF2-40B4-BE49-F238E27FC236}">
                <a16:creationId xmlns:a16="http://schemas.microsoft.com/office/drawing/2014/main" id="{4915204D-C92E-4D82-801C-B3033FFF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23B2C"/>
                </a:solidFill>
              </a:defRPr>
            </a:pPr>
            <a:r>
              <a:rPr sz="3900" b="1" i="0">
                <a:solidFill>
                  <a:srgbClr val="123B2C"/>
                </a:solidFill>
              </a:rPr>
              <a:t>66</a:t>
            </a:r>
          </a:p>
        </p:txBody>
      </p:sp>
      <p:sp>
        <p:nvSpPr>
          <p:cNvPr id="8" name="library-label-1">
            <a:extLst xmlns:a="http://schemas.openxmlformats.org/drawingml/2006/main">
              <a:ext uri="{FF2B5EF4-FFF2-40B4-BE49-F238E27FC236}">
                <a16:creationId xmlns:a16="http://schemas.microsoft.com/office/drawing/2014/main" id="{ADD79667-CCD0-407C-80DE-F6957E92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9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68"/>
                </a:solidFill>
              </a:defRPr>
            </a:pPr>
            <a:r>
              <a:rPr sz="1350" b="0" i="0">
                <a:solidFill>
                  <a:srgbClr val="657068"/>
                </a:solidFill>
              </a:rPr>
              <a:t>indexed documents</a:t>
            </a:r>
          </a:p>
        </p:txBody>
      </p:sp>
      <p:sp>
        <p:nvSpPr>
          <p:cNvPr id="9" name="rule-920-326">
            <a:extLst xmlns:a="http://schemas.openxmlformats.org/drawingml/2006/main">
              <a:ext uri="{FF2B5EF4-FFF2-40B4-BE49-F238E27FC236}">
                <a16:creationId xmlns:a16="http://schemas.microsoft.com/office/drawing/2014/main" id="{58A0EB0A-88FA-4375-AA8B-B6FC0E3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10" name="library-stat-2">
            <a:extLst xmlns:a="http://schemas.openxmlformats.org/drawingml/2006/main">
              <a:ext uri="{FF2B5EF4-FFF2-40B4-BE49-F238E27FC236}">
                <a16:creationId xmlns:a16="http://schemas.microsoft.com/office/drawing/2014/main" id="{BA8EC1C2-8384-42AA-9AAF-87EA3FFF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23B2C"/>
                </a:solidFill>
              </a:defRPr>
            </a:pPr>
            <a:r>
              <a:rPr sz="3900" b="1" i="0">
                <a:solidFill>
                  <a:srgbClr val="123B2C"/>
                </a:solidFill>
              </a:rPr>
              <a:t>1,879</a:t>
            </a:r>
          </a:p>
        </p:txBody>
      </p:sp>
      <p:sp>
        <p:nvSpPr>
          <p:cNvPr id="11" name="library-label-2">
            <a:extLst xmlns:a="http://schemas.openxmlformats.org/drawingml/2006/main">
              <a:ext uri="{FF2B5EF4-FFF2-40B4-BE49-F238E27FC236}">
                <a16:creationId xmlns:a16="http://schemas.microsoft.com/office/drawing/2014/main" id="{924EEA17-B6ED-4920-A449-64326C06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719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68"/>
                </a:solidFill>
              </a:defRPr>
            </a:pPr>
            <a:r>
              <a:rPr sz="1350" b="0" i="0">
                <a:solidFill>
                  <a:srgbClr val="657068"/>
                </a:solidFill>
              </a:rPr>
              <a:t>retrieval chunks</a:t>
            </a:r>
          </a:p>
        </p:txBody>
      </p:sp>
      <p:sp>
        <p:nvSpPr>
          <p:cNvPr id="12" name="rule-920-468">
            <a:extLst xmlns:a="http://schemas.openxmlformats.org/drawingml/2006/main">
              <a:ext uri="{FF2B5EF4-FFF2-40B4-BE49-F238E27FC236}">
                <a16:creationId xmlns:a16="http://schemas.microsoft.com/office/drawing/2014/main" id="{17DEC9A3-901E-4B1B-842A-6023C07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13" name="library-connected">
            <a:extLst xmlns:a="http://schemas.openxmlformats.org/drawingml/2006/main">
              <a:ext uri="{FF2B5EF4-FFF2-40B4-BE49-F238E27FC236}">
                <a16:creationId xmlns:a16="http://schemas.microsoft.com/office/drawing/2014/main" id="{A3C92CCE-9DAF-43DE-B873-3D27351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533E"/>
                </a:solidFill>
              </a:defRPr>
            </a:pPr>
            <a:r>
              <a:rPr sz="1350" b="1" i="0">
                <a:solidFill>
                  <a:srgbClr val="1C533E"/>
                </a:solidFill>
              </a:rPr>
              <a:t>CONNECTED</a:t>
            </a:r>
          </a:p>
        </p:txBody>
      </p:sp>
      <p:sp>
        <p:nvSpPr>
          <p:cNvPr id="14" name="library-copy">
            <a:extLst xmlns:a="http://schemas.openxmlformats.org/drawingml/2006/main">
              <a:ext uri="{FF2B5EF4-FFF2-40B4-BE49-F238E27FC236}">
                <a16:creationId xmlns:a16="http://schemas.microsoft.com/office/drawing/2014/main" id="{E8B41EC7-F3FF-4C66-8CE6-C95E5CA9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1B"/>
                </a:solidFill>
              </a:defRPr>
            </a:pPr>
            <a:r>
              <a:rPr sz="1275" b="0" i="0">
                <a:solidFill>
                  <a:srgbClr val="18201B"/>
                </a:solidFill>
              </a:rPr>
              <a:t>Source identity, year, type, provenance, and ingestion status remain visible.</a:t>
            </a:r>
          </a:p>
        </p:txBody>
      </p:sp>
    </p:spTree>
    <p:extLst>
      <p:ext uri="{BB962C8B-B14F-4D97-AF65-F5344CB8AC3E}">
        <p14:creationId xmlns:p14="http://schemas.microsoft.com/office/powerpoint/2010/main" val="791779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6">
            <a:extLst xmlns:a="http://schemas.openxmlformats.org/drawingml/2006/main">
              <a:ext uri="{FF2B5EF4-FFF2-40B4-BE49-F238E27FC236}">
                <a16:creationId xmlns:a16="http://schemas.microsoft.com/office/drawing/2014/main" id="{12D75A22-5D5F-4826-AD70-D790C5E6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HYBRID RETRIEVAL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6EDB824-FCF0-443F-82E0-7737630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8201B"/>
                </a:solidFill>
              </a:defRPr>
            </a:pPr>
            <a:r>
              <a:rPr sz="3000" b="1" i="0">
                <a:solidFill>
                  <a:srgbClr val="18201B"/>
                </a:solidFill>
              </a:rPr>
              <a:t>Every ranking stage is inspectable</a:t>
            </a:r>
          </a:p>
        </p:txBody>
      </p:sp>
      <p:sp>
        <p:nvSpPr>
          <p:cNvPr id="3" name="rule-58-151">
            <a:extLst xmlns:a="http://schemas.openxmlformats.org/drawingml/2006/main">
              <a:ext uri="{FF2B5EF4-FFF2-40B4-BE49-F238E27FC236}">
                <a16:creationId xmlns:a16="http://schemas.microsoft.com/office/drawing/2014/main" id="{15D956E8-93F1-4C44-A4E6-4EA975FF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048145F5-970E-45D4-BC20-173C23F3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CECC68C8-8529-4466-A613-9397304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297b5c42448a8"/>
          <a:srcRect xmlns:a="http://schemas.openxmlformats.org/drawingml/2006/main" l="0" t="15254" r="0" b="15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11087100" cy="4333875"/>
          </a:xfrm>
          <a:prstGeom xmlns:a="http://schemas.openxmlformats.org/drawingml/2006/main" prst="roundRect">
            <a:avLst>
              <a:gd name="adj" fmla="val 1319"/>
            </a:avLst>
          </a:prstGeom>
        </p:spPr>
      </p:pic>
      <p:sp>
        <p:nvSpPr>
          <p:cNvPr id="7" name="retrieval-caption">
            <a:extLst xmlns:a="http://schemas.openxmlformats.org/drawingml/2006/main">
              <a:ext uri="{FF2B5EF4-FFF2-40B4-BE49-F238E27FC236}">
                <a16:creationId xmlns:a16="http://schemas.microsoft.com/office/drawing/2014/main" id="{EA78BF4F-4FC6-43B0-864D-BF5DC654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1087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2C"/>
          </a:solidFill>
          <a:ln xmlns:a="http://schemas.openxmlformats.org/drawingml/2006/main" w="0">
            <a:solidFill>
              <a:srgbClr val="123B2C"/>
            </a:solidFill>
            <a:prstDash val="solid"/>
          </a:ln>
        </p:spPr>
      </p:sp>
      <p:sp>
        <p:nvSpPr>
          <p:cNvPr id="8" name="retrieval-caption-text">
            <a:extLst xmlns:a="http://schemas.openxmlformats.org/drawingml/2006/main">
              <a:ext uri="{FF2B5EF4-FFF2-40B4-BE49-F238E27FC236}">
                <a16:creationId xmlns:a16="http://schemas.microsoft.com/office/drawing/2014/main" id="{2B6D4903-BEDC-4BDA-A660-B39CF0DF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Dense recall  →  BM25 exactness  →  reciprocal-rank fusion  →  final precision</a:t>
            </a:r>
          </a:p>
        </p:txBody>
      </p:sp>
    </p:spTree>
    <p:extLst>
      <p:ext uri="{BB962C8B-B14F-4D97-AF65-F5344CB8AC3E}">
        <p14:creationId xmlns:p14="http://schemas.microsoft.com/office/powerpoint/2010/main" val="990585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9D8A8482-4A14-42E2-AC2A-7A6FFCD1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CORRECTIVE RESEARCH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F90B620-7BC7-4DE5-9616-2525F606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8201B"/>
                </a:solidFill>
              </a:defRPr>
            </a:pPr>
            <a:r>
              <a:rPr sz="3000" b="1" i="0">
                <a:solidFill>
                  <a:srgbClr val="18201B"/>
                </a:solidFill>
              </a:rPr>
              <a:t>A stateful agent can search again when evidence is weak</a:t>
            </a:r>
          </a:p>
        </p:txBody>
      </p:sp>
      <p:sp>
        <p:nvSpPr>
          <p:cNvPr id="3" name="rule-58-151">
            <a:extLst xmlns:a="http://schemas.openxmlformats.org/drawingml/2006/main">
              <a:ext uri="{FF2B5EF4-FFF2-40B4-BE49-F238E27FC236}">
                <a16:creationId xmlns:a16="http://schemas.microsoft.com/office/drawing/2014/main" id="{41E573AE-1CAD-4109-BAD5-BF6DBF7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4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B5D38329-19C3-4D21-ABE4-BB53D282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47AFFCF5-6ABA-4CA3-9711-4E95C63E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07</a:t>
            </a:r>
          </a:p>
        </p:txBody>
      </p:sp>
      <p:cxnSp>
        <p:nvCxnSpPr>
          <p:cNvPr id="26" name="workflow-line"/>
          <p:cNvCxnSpPr/>
          <p:nvPr/>
        </p:nvCxnSpPr>
        <p:spPr>
          <a:xfrm xmlns:a="http://schemas.openxmlformats.org/drawingml/2006/main">
            <a:off x="895350" y="2571750"/>
            <a:ext cx="390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CBC3"/>
            </a:solidFill>
            <a:prstDash val="solid"/>
          </a:ln>
        </p:spPr>
      </p:cxnSp>
      <p:sp>
        <p:nvSpPr>
          <p:cNvPr id="7" name="step-dot-1">
            <a:extLst xmlns:a="http://schemas.openxmlformats.org/drawingml/2006/main">
              <a:ext uri="{FF2B5EF4-FFF2-40B4-BE49-F238E27FC236}">
                <a16:creationId xmlns:a16="http://schemas.microsoft.com/office/drawing/2014/main" id="{970D0A6D-92C9-477C-9105-CECB21E2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533E"/>
          </a:solidFill>
          <a:ln xmlns:a="http://schemas.openxmlformats.org/drawingml/2006/main" w="0">
            <a:solidFill>
              <a:srgbClr val="1C533E"/>
            </a:solidFill>
            <a:prstDash val="solid"/>
          </a:ln>
        </p:spPr>
      </p:sp>
      <p:sp>
        <p:nvSpPr>
          <p:cNvPr id="8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97780B7C-A7F8-4705-9B1D-FA76D38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01B"/>
                </a:solidFill>
              </a:defRPr>
            </a:pPr>
            <a:r>
              <a:rPr sz="1200" b="1" i="0">
                <a:solidFill>
                  <a:srgbClr val="18201B"/>
                </a:solidFill>
              </a:rPr>
              <a:t>Plan</a:t>
            </a:r>
          </a:p>
        </p:txBody>
      </p:sp>
      <p:sp>
        <p:nvSpPr>
          <p:cNvPr id="9" name="step-sub-1">
            <a:extLst xmlns:a="http://schemas.openxmlformats.org/drawingml/2006/main">
              <a:ext uri="{FF2B5EF4-FFF2-40B4-BE49-F238E27FC236}">
                <a16:creationId xmlns:a16="http://schemas.microsoft.com/office/drawing/2014/main" id="{3E846C8D-54DD-445E-B6F5-74BE260E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068"/>
                </a:solidFill>
              </a:defRPr>
            </a:pPr>
            <a:r>
              <a:rPr sz="975" b="0" i="0">
                <a:solidFill>
                  <a:srgbClr val="657068"/>
                </a:solidFill>
              </a:rPr>
              <a:t>focused questions</a:t>
            </a:r>
          </a:p>
        </p:txBody>
      </p:sp>
      <p:sp>
        <p:nvSpPr>
          <p:cNvPr id="10" name="step-dot-2">
            <a:extLst xmlns:a="http://schemas.openxmlformats.org/drawingml/2006/main">
              <a:ext uri="{FF2B5EF4-FFF2-40B4-BE49-F238E27FC236}">
                <a16:creationId xmlns:a16="http://schemas.microsoft.com/office/drawing/2014/main" id="{05A28EB4-A8D8-4F99-BDB1-F8C229A9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57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533E"/>
          </a:solidFill>
          <a:ln xmlns:a="http://schemas.openxmlformats.org/drawingml/2006/main" w="0">
            <a:solidFill>
              <a:srgbClr val="1C533E"/>
            </a:solidFill>
            <a:prstDash val="solid"/>
          </a:ln>
        </p:spPr>
      </p:sp>
      <p:sp>
        <p:nvSpPr>
          <p:cNvPr id="11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F718BF9D-CE1C-4CEA-AAF3-B8D50AE8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01B"/>
                </a:solidFill>
              </a:defRPr>
            </a:pPr>
            <a:r>
              <a:rPr sz="1200" b="1" i="0">
                <a:solidFill>
                  <a:srgbClr val="18201B"/>
                </a:solidFill>
              </a:rPr>
              <a:t>Retrieve</a:t>
            </a:r>
          </a:p>
        </p:txBody>
      </p:sp>
      <p:sp>
        <p:nvSpPr>
          <p:cNvPr id="12" name="step-sub-2">
            <a:extLst xmlns:a="http://schemas.openxmlformats.org/drawingml/2006/main">
              <a:ext uri="{FF2B5EF4-FFF2-40B4-BE49-F238E27FC236}">
                <a16:creationId xmlns:a16="http://schemas.microsoft.com/office/drawing/2014/main" id="{5997098B-ED3D-428A-9562-CA89102F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670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068"/>
                </a:solidFill>
              </a:defRPr>
            </a:pPr>
            <a:r>
              <a:rPr sz="975" b="0" i="0">
                <a:solidFill>
                  <a:srgbClr val="657068"/>
                </a:solidFill>
              </a:rPr>
              <a:t>hybrid search</a:t>
            </a:r>
          </a:p>
        </p:txBody>
      </p:sp>
      <p:sp>
        <p:nvSpPr>
          <p:cNvPr id="13" name="step-dot-3">
            <a:extLst xmlns:a="http://schemas.openxmlformats.org/drawingml/2006/main">
              <a:ext uri="{FF2B5EF4-FFF2-40B4-BE49-F238E27FC236}">
                <a16:creationId xmlns:a16="http://schemas.microsoft.com/office/drawing/2014/main" id="{C21F570A-DC5C-48AF-9C79-0E96A9A9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57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533E"/>
          </a:solidFill>
          <a:ln xmlns:a="http://schemas.openxmlformats.org/drawingml/2006/main" w="0">
            <a:solidFill>
              <a:srgbClr val="1C533E"/>
            </a:solidFill>
            <a:prstDash val="solid"/>
          </a:ln>
        </p:spPr>
      </p:sp>
      <p:sp>
        <p:nvSpPr>
          <p:cNvPr id="14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0EB3DFFD-CDDE-455E-AAD1-57F63C15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01B"/>
                </a:solidFill>
              </a:defRPr>
            </a:pPr>
            <a:r>
              <a:rPr sz="1200" b="1" i="0">
                <a:solidFill>
                  <a:srgbClr val="18201B"/>
                </a:solidFill>
              </a:rPr>
              <a:t>Challenge</a:t>
            </a:r>
          </a:p>
        </p:txBody>
      </p:sp>
      <p:sp>
        <p:nvSpPr>
          <p:cNvPr id="15" name="step-sub-3">
            <a:extLst xmlns:a="http://schemas.openxmlformats.org/drawingml/2006/main">
              <a:ext uri="{FF2B5EF4-FFF2-40B4-BE49-F238E27FC236}">
                <a16:creationId xmlns:a16="http://schemas.microsoft.com/office/drawing/2014/main" id="{31F36610-57D5-4065-BBB2-FB746F8C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670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068"/>
                </a:solidFill>
              </a:defRPr>
            </a:pPr>
            <a:r>
              <a:rPr sz="975" b="0" i="0">
                <a:solidFill>
                  <a:srgbClr val="657068"/>
                </a:solidFill>
              </a:rPr>
              <a:t>counter-check</a:t>
            </a:r>
          </a:p>
        </p:txBody>
      </p:sp>
      <p:sp>
        <p:nvSpPr>
          <p:cNvPr id="16" name="step-dot-4">
            <a:extLst xmlns:a="http://schemas.openxmlformats.org/drawingml/2006/main">
              <a:ext uri="{FF2B5EF4-FFF2-40B4-BE49-F238E27FC236}">
                <a16:creationId xmlns:a16="http://schemas.microsoft.com/office/drawing/2014/main" id="{DBD688AE-8398-4669-8C67-6D97E0EC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57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55D"/>
          </a:solidFill>
          <a:ln xmlns:a="http://schemas.openxmlformats.org/drawingml/2006/main" w="0">
            <a:solidFill>
              <a:srgbClr val="D5E55D"/>
            </a:solidFill>
            <a:prstDash val="solid"/>
          </a:ln>
        </p:spPr>
      </p:sp>
      <p:sp>
        <p:nvSpPr>
          <p:cNvPr id="17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34F11C6F-03A4-4C2C-9D4F-EDDC4F5C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527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8201B"/>
                </a:solidFill>
              </a:defRPr>
            </a:pPr>
            <a:r>
              <a:rPr sz="1200" b="1" i="0">
                <a:solidFill>
                  <a:srgbClr val="18201B"/>
                </a:solidFill>
              </a:rPr>
              <a:t>Verify</a:t>
            </a:r>
          </a:p>
        </p:txBody>
      </p:sp>
      <p:sp>
        <p:nvSpPr>
          <p:cNvPr id="18" name="step-sub-4">
            <a:extLst xmlns:a="http://schemas.openxmlformats.org/drawingml/2006/main">
              <a:ext uri="{FF2B5EF4-FFF2-40B4-BE49-F238E27FC236}">
                <a16:creationId xmlns:a16="http://schemas.microsoft.com/office/drawing/2014/main" id="{CF307A37-774F-40B6-972C-047CDFB1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67075"/>
            <a:ext cx="99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57068"/>
                </a:solidFill>
              </a:defRPr>
            </a:pPr>
            <a:r>
              <a:rPr sz="975" b="0" i="0">
                <a:solidFill>
                  <a:srgbClr val="657068"/>
                </a:solidFill>
              </a:rPr>
              <a:t>claims + citations</a:t>
            </a:r>
          </a:p>
        </p:txBody>
      </p:sp>
      <p:sp>
        <p:nvSpPr>
          <p:cNvPr id="19" name="workflow-body">
            <a:extLst xmlns:a="http://schemas.openxmlformats.org/drawingml/2006/main">
              <a:ext uri="{FF2B5EF4-FFF2-40B4-BE49-F238E27FC236}">
                <a16:creationId xmlns:a16="http://schemas.microsoft.com/office/drawing/2014/main" id="{0BBD8CBF-2246-4DB9-8DFB-7D4F040C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42912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01B"/>
                </a:solidFill>
              </a:defRPr>
            </a:pPr>
            <a:r>
              <a:rPr sz="1350" b="0" i="0">
                <a:solidFill>
                  <a:srgbClr val="18201B"/>
                </a:solidFill>
              </a:rPr>
              <a:t>Evidence spans preserve the source, page or section, exact passage, stance, and relevance score. The visible trace makes correction and verification part of the product—not hidden implementation details.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07683143d4b37"/>
          <a:srcRect xmlns:a="http://schemas.openxmlformats.org/drawingml/2006/main" l="10934" t="0" r="109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790700"/>
            <a:ext cx="6019800" cy="4333875"/>
          </a:xfrm>
          <a:prstGeom xmlns:a="http://schemas.openxmlformats.org/drawingml/2006/main" prst="roundRect">
            <a:avLst>
              <a:gd name="adj" fmla="val 1319"/>
            </a:avLst>
          </a:prstGeom>
        </p:spPr>
      </p:pic>
    </p:spTree>
    <p:extLst>
      <p:ext uri="{BB962C8B-B14F-4D97-AF65-F5344CB8AC3E}">
        <p14:creationId xmlns:p14="http://schemas.microsoft.com/office/powerpoint/2010/main" val="719497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8">
            <a:extLst xmlns:a="http://schemas.openxmlformats.org/drawingml/2006/main">
              <a:ext uri="{FF2B5EF4-FFF2-40B4-BE49-F238E27FC236}">
                <a16:creationId xmlns:a16="http://schemas.microsoft.com/office/drawing/2014/main" id="{6E9EAE6F-E3A1-4987-950E-89CA75F9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APPLICATION CONTRACT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65A99BC-7916-42D2-B19F-CEA05A9D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8201B"/>
                </a:solidFill>
              </a:defRPr>
            </a:pPr>
            <a:r>
              <a:rPr sz="3000" b="1" i="0">
                <a:solidFill>
                  <a:srgbClr val="18201B"/>
                </a:solidFill>
              </a:rPr>
              <a:t>The API already supports an end-to-end research product</a:t>
            </a:r>
          </a:p>
        </p:txBody>
      </p:sp>
      <p:sp>
        <p:nvSpPr>
          <p:cNvPr id="3" name="rule-58-151">
            <a:extLst xmlns:a="http://schemas.openxmlformats.org/drawingml/2006/main">
              <a:ext uri="{FF2B5EF4-FFF2-40B4-BE49-F238E27FC236}">
                <a16:creationId xmlns:a16="http://schemas.microsoft.com/office/drawing/2014/main" id="{B92D2025-715D-4447-806A-1BEED5A1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4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5CC08404-828D-4752-9A22-FA63BC36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36D58920-2DF3-408E-A227-2AACF01C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08</a:t>
            </a:r>
          </a:p>
        </p:txBody>
      </p:sp>
      <p:cxnSp>
        <p:nvCxnSpPr>
          <p:cNvPr id="27" name="api-line-a"/>
          <p:cNvCxnSpPr/>
          <p:nvPr/>
        </p:nvCxnSpPr>
        <p:spPr>
          <a:xfrm xmlns:a="http://schemas.openxmlformats.org/drawingml/2006/main">
            <a:off x="3333750" y="33813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4CBC3"/>
            </a:solidFill>
            <a:prstDash val="solid"/>
          </a:ln>
        </p:spPr>
      </p:cxnSp>
      <p:cxnSp>
        <p:nvCxnSpPr>
          <p:cNvPr id="28" name="api-line-b"/>
          <p:cNvCxnSpPr/>
          <p:nvPr/>
        </p:nvCxnSpPr>
        <p:spPr>
          <a:xfrm xmlns:a="http://schemas.openxmlformats.org/drawingml/2006/main">
            <a:off x="7334250" y="33813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4CBC3"/>
            </a:solidFill>
            <a:prstDash val="solid"/>
          </a:ln>
        </p:spPr>
      </p:cxnSp>
      <p:sp>
        <p:nvSpPr>
          <p:cNvPr id="8" name="api-label-INGEST">
            <a:extLst xmlns:a="http://schemas.openxmlformats.org/drawingml/2006/main">
              <a:ext uri="{FF2B5EF4-FFF2-40B4-BE49-F238E27FC236}">
                <a16:creationId xmlns:a16="http://schemas.microsoft.com/office/drawing/2014/main" id="{E9F42ABD-B970-4051-A32F-EB812D4E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533E"/>
                </a:solidFill>
              </a:defRPr>
            </a:pPr>
            <a:r>
              <a:rPr sz="975" b="1" i="0">
                <a:solidFill>
                  <a:srgbClr val="1C533E"/>
                </a:solidFill>
              </a:rPr>
              <a:t>INGEST</a:t>
            </a:r>
          </a:p>
        </p:txBody>
      </p:sp>
      <p:sp>
        <p:nvSpPr>
          <p:cNvPr id="9" name="api-title-INGEST">
            <a:extLst xmlns:a="http://schemas.openxmlformats.org/drawingml/2006/main">
              <a:ext uri="{FF2B5EF4-FFF2-40B4-BE49-F238E27FC236}">
                <a16:creationId xmlns:a16="http://schemas.microsoft.com/office/drawing/2014/main" id="{F0977C34-5D57-4CDB-85CE-122B4425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1B"/>
                </a:solidFill>
              </a:defRPr>
            </a:pPr>
            <a:r>
              <a:rPr sz="1800" b="1" i="0">
                <a:solidFill>
                  <a:srgbClr val="18201B"/>
                </a:solidFill>
              </a:rPr>
              <a:t>Discover + import</a:t>
            </a:r>
          </a:p>
        </p:txBody>
      </p:sp>
      <p:sp>
        <p:nvSpPr>
          <p:cNvPr id="10" name="rule-70-321">
            <a:extLst xmlns:a="http://schemas.openxmlformats.org/drawingml/2006/main">
              <a:ext uri="{FF2B5EF4-FFF2-40B4-BE49-F238E27FC236}">
                <a16:creationId xmlns:a16="http://schemas.microsoft.com/office/drawing/2014/main" id="{F52C78FB-F042-48D0-BD65-628D60E5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11" name="api-body-INGEST">
            <a:extLst xmlns:a="http://schemas.openxmlformats.org/drawingml/2006/main">
              <a:ext uri="{FF2B5EF4-FFF2-40B4-BE49-F238E27FC236}">
                <a16:creationId xmlns:a16="http://schemas.microsoft.com/office/drawing/2014/main" id="{35FD94B1-A254-4ED4-8437-79FE990B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57068"/>
                </a:solidFill>
              </a:defRPr>
            </a:pPr>
            <a:r>
              <a:rPr sz="1350" b="1" i="0">
                <a:solidFill>
                  <a:srgbClr val="657068"/>
                </a:solidFill>
              </a:rPr>
              <a:t>/v1/documents</a:t>
            </a:r>
          </a:p>
          <a:p xmlns:a="http://schemas.openxmlformats.org/drawingml/2006/main">
            <a:pPr algn="l">
              <a:defRPr sz="1350" b="1" i="0">
                <a:solidFill>
                  <a:srgbClr val="657068"/>
                </a:solidFill>
              </a:defRPr>
            </a:pPr>
            <a:r>
              <a:rPr sz="1350" b="1" i="0">
                <a:solidFill>
                  <a:srgbClr val="657068"/>
                </a:solidFill>
              </a:rPr>
              <a:t>/v1/sources/discover</a:t>
            </a:r>
          </a:p>
          <a:p xmlns:a="http://schemas.openxmlformats.org/drawingml/2006/main">
            <a:pPr algn="l">
              <a:defRPr sz="1350" b="1" i="0">
                <a:solidFill>
                  <a:srgbClr val="657068"/>
                </a:solidFill>
              </a:defRPr>
            </a:pPr>
            <a:r>
              <a:rPr sz="1350" b="1" i="0">
                <a:solidFill>
                  <a:srgbClr val="657068"/>
                </a:solidFill>
              </a:rPr>
              <a:t>/v1/sources/import</a:t>
            </a:r>
          </a:p>
        </p:txBody>
      </p:sp>
      <p:sp>
        <p:nvSpPr>
          <p:cNvPr id="12" name="api-label-RETRIEVE">
            <a:extLst xmlns:a="http://schemas.openxmlformats.org/drawingml/2006/main">
              <a:ext uri="{FF2B5EF4-FFF2-40B4-BE49-F238E27FC236}">
                <a16:creationId xmlns:a16="http://schemas.microsoft.com/office/drawing/2014/main" id="{53582424-A9C2-4A71-B7D8-B0EAA264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533E"/>
                </a:solidFill>
              </a:defRPr>
            </a:pPr>
            <a:r>
              <a:rPr sz="975" b="1" i="0">
                <a:solidFill>
                  <a:srgbClr val="1C533E"/>
                </a:solidFill>
              </a:rPr>
              <a:t>RETRIEVE</a:t>
            </a:r>
          </a:p>
        </p:txBody>
      </p:sp>
      <p:sp>
        <p:nvSpPr>
          <p:cNvPr id="13" name="api-title-RETRIEVE">
            <a:extLst xmlns:a="http://schemas.openxmlformats.org/drawingml/2006/main">
              <a:ext uri="{FF2B5EF4-FFF2-40B4-BE49-F238E27FC236}">
                <a16:creationId xmlns:a16="http://schemas.microsoft.com/office/drawing/2014/main" id="{F8B4C7A0-383F-4C5B-9DB6-EFEB386D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1B"/>
                </a:solidFill>
              </a:defRPr>
            </a:pPr>
            <a:r>
              <a:rPr sz="1800" b="1" i="0">
                <a:solidFill>
                  <a:srgbClr val="18201B"/>
                </a:solidFill>
              </a:rPr>
              <a:t>Search + debug</a:t>
            </a:r>
          </a:p>
        </p:txBody>
      </p:sp>
      <p:sp>
        <p:nvSpPr>
          <p:cNvPr id="14" name="rule-490-321">
            <a:extLst xmlns:a="http://schemas.openxmlformats.org/drawingml/2006/main">
              <a:ext uri="{FF2B5EF4-FFF2-40B4-BE49-F238E27FC236}">
                <a16:creationId xmlns:a16="http://schemas.microsoft.com/office/drawing/2014/main" id="{9059CCC5-B89F-4893-8BCC-962D3AD1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15" name="api-body-RETRIEVE">
            <a:extLst xmlns:a="http://schemas.openxmlformats.org/drawingml/2006/main">
              <a:ext uri="{FF2B5EF4-FFF2-40B4-BE49-F238E27FC236}">
                <a16:creationId xmlns:a16="http://schemas.microsoft.com/office/drawing/2014/main" id="{CFE61E88-7D28-48F8-A10F-40BC3D43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71875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57068"/>
                </a:solidFill>
              </a:defRPr>
            </a:pPr>
            <a:r>
              <a:rPr sz="1350" b="1" i="0">
                <a:solidFill>
                  <a:srgbClr val="657068"/>
                </a:solidFill>
              </a:rPr>
              <a:t>/v1/search</a:t>
            </a:r>
          </a:p>
          <a:p xmlns:a="http://schemas.openxmlformats.org/drawingml/2006/main">
            <a:pPr algn="l">
              <a:defRPr sz="1350" b="1" i="0">
                <a:solidFill>
                  <a:srgbClr val="657068"/>
                </a:solidFill>
              </a:defRPr>
            </a:pPr>
            <a:r>
              <a:rPr sz="1350" b="1" i="0">
                <a:solidFill>
                  <a:srgbClr val="657068"/>
                </a:solidFill>
              </a:rPr>
              <a:t>/v1/search/debug</a:t>
            </a:r>
          </a:p>
          <a:p xmlns:a="http://schemas.openxmlformats.org/drawingml/2006/main">
            <a:pPr algn="l">
              <a:defRPr sz="1350" b="1" i="0">
                <a:solidFill>
                  <a:srgbClr val="657068"/>
                </a:solidFill>
              </a:defRPr>
            </a:pPr>
            <a:r>
              <a:rPr sz="1350" b="1" i="0">
                <a:solidFill>
                  <a:srgbClr val="657068"/>
                </a:solidFill>
              </a:rPr>
              <a:t>/v1/evals/run</a:t>
            </a:r>
          </a:p>
        </p:txBody>
      </p:sp>
      <p:sp>
        <p:nvSpPr>
          <p:cNvPr id="16" name="api-label-RESEARCH">
            <a:extLst xmlns:a="http://schemas.openxmlformats.org/drawingml/2006/main">
              <a:ext uri="{FF2B5EF4-FFF2-40B4-BE49-F238E27FC236}">
                <a16:creationId xmlns:a16="http://schemas.microsoft.com/office/drawing/2014/main" id="{DB435E5D-1EEC-4A2B-98C6-01CC7A3E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533E"/>
                </a:solidFill>
              </a:defRPr>
            </a:pPr>
            <a:r>
              <a:rPr sz="975" b="1" i="0">
                <a:solidFill>
                  <a:srgbClr val="1C533E"/>
                </a:solidFill>
              </a:rPr>
              <a:t>RESEARCH</a:t>
            </a:r>
          </a:p>
        </p:txBody>
      </p:sp>
      <p:sp>
        <p:nvSpPr>
          <p:cNvPr id="17" name="api-title-RESEARCH">
            <a:extLst xmlns:a="http://schemas.openxmlformats.org/drawingml/2006/main">
              <a:ext uri="{FF2B5EF4-FFF2-40B4-BE49-F238E27FC236}">
                <a16:creationId xmlns:a16="http://schemas.microsoft.com/office/drawing/2014/main" id="{F93413DF-FF1F-4901-AD4D-DBBF47CC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201B"/>
                </a:solidFill>
              </a:defRPr>
            </a:pPr>
            <a:r>
              <a:rPr sz="1800" b="1" i="0">
                <a:solidFill>
                  <a:srgbClr val="18201B"/>
                </a:solidFill>
              </a:rPr>
              <a:t>Run + stream</a:t>
            </a:r>
          </a:p>
        </p:txBody>
      </p:sp>
      <p:sp>
        <p:nvSpPr>
          <p:cNvPr id="18" name="rule-910-321">
            <a:extLst xmlns:a="http://schemas.openxmlformats.org/drawingml/2006/main">
              <a:ext uri="{FF2B5EF4-FFF2-40B4-BE49-F238E27FC236}">
                <a16:creationId xmlns:a16="http://schemas.microsoft.com/office/drawing/2014/main" id="{686328DD-4F9C-4CF9-8AB0-6071F026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19" name="api-body-RESEARCH">
            <a:extLst xmlns:a="http://schemas.openxmlformats.org/drawingml/2006/main">
              <a:ext uri="{FF2B5EF4-FFF2-40B4-BE49-F238E27FC236}">
                <a16:creationId xmlns:a16="http://schemas.microsoft.com/office/drawing/2014/main" id="{EDB05781-3C4D-4095-B149-D909F112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57068"/>
                </a:solidFill>
              </a:defRPr>
            </a:pPr>
            <a:r>
              <a:rPr sz="1350" b="1" i="0">
                <a:solidFill>
                  <a:srgbClr val="657068"/>
                </a:solidFill>
              </a:rPr>
              <a:t>/v1/research</a:t>
            </a:r>
          </a:p>
          <a:p xmlns:a="http://schemas.openxmlformats.org/drawingml/2006/main">
            <a:pPr algn="l">
              <a:defRPr sz="1350" b="1" i="0">
                <a:solidFill>
                  <a:srgbClr val="657068"/>
                </a:solidFill>
              </a:defRPr>
            </a:pPr>
            <a:r>
              <a:rPr sz="1350" b="1" i="0">
                <a:solidFill>
                  <a:srgbClr val="657068"/>
                </a:solidFill>
              </a:rPr>
              <a:t>/v1/research/{id}/events</a:t>
            </a:r>
          </a:p>
          <a:p xmlns:a="http://schemas.openxmlformats.org/drawingml/2006/main">
            <a:pPr algn="l">
              <a:defRPr sz="1350" b="1" i="0">
                <a:solidFill>
                  <a:srgbClr val="657068"/>
                </a:solidFill>
              </a:defRPr>
            </a:pPr>
            <a:r>
              <a:rPr sz="1350" b="1" i="0">
                <a:solidFill>
                  <a:srgbClr val="657068"/>
                </a:solidFill>
              </a:rPr>
              <a:t>/v1/research/{id}/evidence</a:t>
            </a:r>
          </a:p>
        </p:txBody>
      </p:sp>
      <p:sp>
        <p:nvSpPr>
          <p:cNvPr id="20" name="api-contract-band">
            <a:extLst xmlns:a="http://schemas.openxmlformats.org/drawingml/2006/main">
              <a:ext uri="{FF2B5EF4-FFF2-40B4-BE49-F238E27FC236}">
                <a16:creationId xmlns:a16="http://schemas.microsoft.com/office/drawing/2014/main" id="{5294BE18-27D6-4F86-A8D9-D89E2DF1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EEF1EA"/>
            </a:solidFill>
            <a:prstDash val="solid"/>
          </a:ln>
        </p:spPr>
      </p:sp>
      <p:sp>
        <p:nvSpPr>
          <p:cNvPr id="21" name="api-contract-copy">
            <a:extLst xmlns:a="http://schemas.openxmlformats.org/drawingml/2006/main">
              <a:ext uri="{FF2B5EF4-FFF2-40B4-BE49-F238E27FC236}">
                <a16:creationId xmlns:a16="http://schemas.microsoft.com/office/drawing/2014/main" id="{68D82BD4-586F-4201-A633-6FC76330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054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B2C"/>
                </a:solidFill>
              </a:defRPr>
            </a:pPr>
            <a:r>
              <a:rPr sz="1500" b="1" i="0">
                <a:solidFill>
                  <a:srgbClr val="123B2C"/>
                </a:solidFill>
              </a:rPr>
              <a:t>Structured Pydantic models keep free-form model output from becoming the system of record.</a:t>
            </a:r>
          </a:p>
        </p:txBody>
      </p:sp>
    </p:spTree>
    <p:extLst>
      <p:ext uri="{BB962C8B-B14F-4D97-AF65-F5344CB8AC3E}">
        <p14:creationId xmlns:p14="http://schemas.microsoft.com/office/powerpoint/2010/main" val="1072574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9">
            <a:extLst xmlns:a="http://schemas.openxmlformats.org/drawingml/2006/main">
              <a:ext uri="{FF2B5EF4-FFF2-40B4-BE49-F238E27FC236}">
                <a16:creationId xmlns:a16="http://schemas.microsoft.com/office/drawing/2014/main" id="{4C35338F-6557-43E4-BD51-33C8E8BD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EVALUATION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0EB94B0-E584-4E38-8D8B-3EF4F6FD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8201B"/>
                </a:solidFill>
              </a:defRPr>
            </a:pPr>
            <a:r>
              <a:rPr sz="3000" b="1" i="0">
                <a:solidFill>
                  <a:srgbClr val="18201B"/>
                </a:solidFill>
              </a:rPr>
              <a:t>Quality is a product surface—not an afterthought</a:t>
            </a:r>
          </a:p>
        </p:txBody>
      </p:sp>
      <p:sp>
        <p:nvSpPr>
          <p:cNvPr id="3" name="rule-58-151">
            <a:extLst xmlns:a="http://schemas.openxmlformats.org/drawingml/2006/main">
              <a:ext uri="{FF2B5EF4-FFF2-40B4-BE49-F238E27FC236}">
                <a16:creationId xmlns:a16="http://schemas.microsoft.com/office/drawing/2014/main" id="{C799C6A9-7368-46A5-A6D5-AEE338EB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4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666F0C8A-41C5-48AF-917C-5FC6E4B8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D557A7FF-9D8B-4B3E-829B-1F35D362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802fb859c4353"/>
          <a:srcRect xmlns:a="http://schemas.openxmlformats.org/drawingml/2006/main" l="291" t="0" r="2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7239000" cy="4095750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  <p:sp>
        <p:nvSpPr>
          <p:cNvPr id="7" name="tests-stat">
            <a:extLst xmlns:a="http://schemas.openxmlformats.org/drawingml/2006/main">
              <a:ext uri="{FF2B5EF4-FFF2-40B4-BE49-F238E27FC236}">
                <a16:creationId xmlns:a16="http://schemas.microsoft.com/office/drawing/2014/main" id="{C5EEC155-9134-4821-9BA1-02C9DA6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431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23B2C"/>
                </a:solidFill>
              </a:defRPr>
            </a:pPr>
            <a:r>
              <a:rPr sz="4200" b="1" i="0">
                <a:solidFill>
                  <a:srgbClr val="123B2C"/>
                </a:solidFill>
              </a:rPr>
              <a:t>15</a:t>
            </a:r>
          </a:p>
        </p:txBody>
      </p:sp>
      <p:sp>
        <p:nvSpPr>
          <p:cNvPr id="8" name="tests-label">
            <a:extLst xmlns:a="http://schemas.openxmlformats.org/drawingml/2006/main">
              <a:ext uri="{FF2B5EF4-FFF2-40B4-BE49-F238E27FC236}">
                <a16:creationId xmlns:a16="http://schemas.microsoft.com/office/drawing/2014/main" id="{FCE67565-9559-4F6F-A3AF-64610261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8201B"/>
                </a:solidFill>
              </a:defRPr>
            </a:pPr>
            <a:r>
              <a:rPr sz="1425" b="1" i="0">
                <a:solidFill>
                  <a:srgbClr val="18201B"/>
                </a:solidFill>
              </a:rPr>
              <a:t>automated tests passed</a:t>
            </a:r>
          </a:p>
        </p:txBody>
      </p:sp>
      <p:sp>
        <p:nvSpPr>
          <p:cNvPr id="9" name="tests-body">
            <a:extLst xmlns:a="http://schemas.openxmlformats.org/drawingml/2006/main">
              <a:ext uri="{FF2B5EF4-FFF2-40B4-BE49-F238E27FC236}">
                <a16:creationId xmlns:a16="http://schemas.microsoft.com/office/drawing/2014/main" id="{11EFEF7B-2367-4F82-8085-104BC3D8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266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57068"/>
                </a:solidFill>
              </a:defRPr>
            </a:pPr>
            <a:r>
              <a:rPr sz="1350" b="0" i="0">
                <a:solidFill>
                  <a:srgbClr val="657068"/>
                </a:solidFill>
              </a:rPr>
              <a:t>Unit, integration, and end-to-end coverage spans parsing, persistence, scholarly discovery, retrieval, corrective research, and evaluation.</a:t>
            </a:r>
          </a:p>
        </p:txBody>
      </p:sp>
      <p:sp>
        <p:nvSpPr>
          <p:cNvPr id="10" name="eval-caveat">
            <a:extLst xmlns:a="http://schemas.openxmlformats.org/drawingml/2006/main">
              <a:ext uri="{FF2B5EF4-FFF2-40B4-BE49-F238E27FC236}">
                <a16:creationId xmlns:a16="http://schemas.microsoft.com/office/drawing/2014/main" id="{CE1A122A-D29E-4472-93B8-8FE525AD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A"/>
          </a:solidFill>
          <a:ln xmlns:a="http://schemas.openxmlformats.org/drawingml/2006/main" w="0">
            <a:solidFill>
              <a:srgbClr val="EEF1EA"/>
            </a:solidFill>
            <a:prstDash val="solid"/>
          </a:ln>
        </p:spPr>
      </p:sp>
      <p:sp>
        <p:nvSpPr>
          <p:cNvPr id="11" name="eval-caveat-text">
            <a:extLst xmlns:a="http://schemas.openxmlformats.org/drawingml/2006/main">
              <a:ext uri="{FF2B5EF4-FFF2-40B4-BE49-F238E27FC236}">
                <a16:creationId xmlns:a16="http://schemas.microsoft.com/office/drawing/2014/main" id="{098D93B1-254C-4653-BBAC-01CC4B68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57775"/>
            <a:ext cx="2705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23B2C"/>
                </a:solidFill>
              </a:defRPr>
            </a:pPr>
            <a:r>
              <a:rPr sz="1275" b="1" i="0">
                <a:solidFill>
                  <a:srgbClr val="123B2C"/>
                </a:solidFill>
              </a:rPr>
              <a:t>Dashboard percentages are illustrative. Production claims require a versioned gold set and recorded experiment run.</a:t>
            </a:r>
          </a:p>
        </p:txBody>
      </p:sp>
    </p:spTree>
    <p:extLst>
      <p:ext uri="{BB962C8B-B14F-4D97-AF65-F5344CB8AC3E}">
        <p14:creationId xmlns:p14="http://schemas.microsoft.com/office/powerpoint/2010/main" val="1447457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yebrow-10">
            <a:extLst xmlns:a="http://schemas.openxmlformats.org/drawingml/2006/main">
              <a:ext uri="{FF2B5EF4-FFF2-40B4-BE49-F238E27FC236}">
                <a16:creationId xmlns:a16="http://schemas.microsoft.com/office/drawing/2014/main" id="{DD18C144-08DB-4190-96B1-0E943277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C533E"/>
                </a:solidFill>
              </a:defRPr>
            </a:pPr>
            <a:r>
              <a:rPr sz="900" b="1" i="0">
                <a:solidFill>
                  <a:srgbClr val="1C533E"/>
                </a:solidFill>
              </a:rPr>
              <a:t>IMPLEMENTATION SCOPE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63366AF-4443-42D4-998E-70AC68D1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8201B"/>
                </a:solidFill>
              </a:defRPr>
            </a:pPr>
            <a:r>
              <a:rPr sz="3000" b="1" i="0">
                <a:solidFill>
                  <a:srgbClr val="18201B"/>
                </a:solidFill>
              </a:rPr>
              <a:t>Built for evidence quality; scale comes next</a:t>
            </a:r>
          </a:p>
        </p:txBody>
      </p:sp>
      <p:sp>
        <p:nvSpPr>
          <p:cNvPr id="3" name="rule-58-151">
            <a:extLst xmlns:a="http://schemas.openxmlformats.org/drawingml/2006/main">
              <a:ext uri="{FF2B5EF4-FFF2-40B4-BE49-F238E27FC236}">
                <a16:creationId xmlns:a16="http://schemas.microsoft.com/office/drawing/2014/main" id="{D62E6F0F-101D-4A91-8A36-6BC4CE0D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BC3"/>
          </a:solidFill>
          <a:ln xmlns:a="http://schemas.openxmlformats.org/drawingml/2006/main" w="0">
            <a:solidFill>
              <a:srgbClr val="C4CBC3"/>
            </a:solidFill>
            <a:prstDash val="solid"/>
          </a:ln>
        </p:spPr>
      </p:sp>
      <p:sp>
        <p:nvSpPr>
          <p:cNvPr id="4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E56B8B59-7983-4576-9123-7A647CA5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EVIDENSIA AI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0AE7E962-9CBF-47F4-A63A-51583C38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817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57068"/>
                </a:solidFill>
              </a:defRPr>
            </a:pPr>
            <a:r>
              <a:rPr sz="900" b="1" i="0">
                <a:solidFill>
                  <a:srgbClr val="657068"/>
                </a:solidFill>
              </a:rPr>
              <a:t>10</a:t>
            </a:r>
          </a:p>
        </p:txBody>
      </p:sp>
      <p:cxnSp>
        <p:nvCxnSpPr>
          <p:cNvPr id="42" name="phase-line"/>
          <p:cNvCxnSpPr/>
          <p:nvPr/>
        </p:nvCxnSpPr>
        <p:spPr>
          <a:xfrm xmlns:a="http://schemas.openxmlformats.org/drawingml/2006/main">
            <a:off x="876300" y="3381375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CBC3"/>
            </a:solidFill>
            <a:prstDash val="solid"/>
          </a:ln>
        </p:spPr>
      </p:cxnSp>
      <p:sp>
        <p:nvSpPr>
          <p:cNvPr id="7" name="phase-dot-1">
            <a:extLst xmlns:a="http://schemas.openxmlformats.org/drawingml/2006/main">
              <a:ext uri="{FF2B5EF4-FFF2-40B4-BE49-F238E27FC236}">
                <a16:creationId xmlns:a16="http://schemas.microsoft.com/office/drawing/2014/main" id="{49906559-59EA-4963-B47C-4F821F22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533E"/>
          </a:solidFill>
          <a:ln xmlns:a="http://schemas.openxmlformats.org/drawingml/2006/main" w="0">
            <a:solidFill>
              <a:srgbClr val="1C533E"/>
            </a:solidFill>
            <a:prstDash val="solid"/>
          </a:ln>
        </p:spPr>
      </p:sp>
      <p:sp>
        <p:nvSpPr>
          <p:cNvPr id="8" name="phase-n-1">
            <a:extLst xmlns:a="http://schemas.openxmlformats.org/drawingml/2006/main">
              <a:ext uri="{FF2B5EF4-FFF2-40B4-BE49-F238E27FC236}">
                <a16:creationId xmlns:a16="http://schemas.microsoft.com/office/drawing/2014/main" id="{3F8E2D12-133F-441A-B4E2-76BD8FB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C533E"/>
                </a:solidFill>
              </a:defRPr>
            </a:pPr>
            <a:r>
              <a:rPr sz="1125" b="1" i="0">
                <a:solidFill>
                  <a:srgbClr val="1C533E"/>
                </a:solidFill>
              </a:rPr>
              <a:t>1</a:t>
            </a:r>
          </a:p>
        </p:txBody>
      </p:sp>
      <p:sp>
        <p:nvSpPr>
          <p:cNvPr id="9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7AFFC26C-6C78-4F5A-83D2-3D062458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201B"/>
                </a:solidFill>
              </a:defRPr>
            </a:pPr>
            <a:r>
              <a:rPr sz="1200" b="1" i="0">
                <a:solidFill>
                  <a:srgbClr val="18201B"/>
                </a:solidFill>
              </a:rPr>
              <a:t>Retrieval</a:t>
            </a:r>
          </a:p>
        </p:txBody>
      </p:sp>
      <p:sp>
        <p:nvSpPr>
          <p:cNvPr id="10" name="phase-status-1">
            <a:extLst xmlns:a="http://schemas.openxmlformats.org/drawingml/2006/main">
              <a:ext uri="{FF2B5EF4-FFF2-40B4-BE49-F238E27FC236}">
                <a16:creationId xmlns:a16="http://schemas.microsoft.com/office/drawing/2014/main" id="{1383249F-1932-4B05-A59A-BDDBC3A8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C533E"/>
                </a:solidFill>
              </a:defRPr>
            </a:pPr>
            <a:r>
              <a:rPr sz="825" b="1" i="0">
                <a:solidFill>
                  <a:srgbClr val="1C533E"/>
                </a:solidFill>
              </a:rPr>
              <a:t>IMPLEMENTED</a:t>
            </a:r>
          </a:p>
        </p:txBody>
      </p:sp>
      <p:sp>
        <p:nvSpPr>
          <p:cNvPr id="11" name="phase-dot-2">
            <a:extLst xmlns:a="http://schemas.openxmlformats.org/drawingml/2006/main">
              <a:ext uri="{FF2B5EF4-FFF2-40B4-BE49-F238E27FC236}">
                <a16:creationId xmlns:a16="http://schemas.microsoft.com/office/drawing/2014/main" id="{3849599B-D694-42BC-8139-DE962F5F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48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533E"/>
          </a:solidFill>
          <a:ln xmlns:a="http://schemas.openxmlformats.org/drawingml/2006/main" w="0">
            <a:solidFill>
              <a:srgbClr val="1C533E"/>
            </a:solidFill>
            <a:prstDash val="solid"/>
          </a:ln>
        </p:spPr>
      </p:sp>
      <p:sp>
        <p:nvSpPr>
          <p:cNvPr id="12" name="phase-n-2">
            <a:extLst xmlns:a="http://schemas.openxmlformats.org/drawingml/2006/main">
              <a:ext uri="{FF2B5EF4-FFF2-40B4-BE49-F238E27FC236}">
                <a16:creationId xmlns:a16="http://schemas.microsoft.com/office/drawing/2014/main" id="{04E223B2-CC32-405A-9748-6E517AF2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5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C533E"/>
                </a:solidFill>
              </a:defRPr>
            </a:pPr>
            <a:r>
              <a:rPr sz="1125" b="1" i="0">
                <a:solidFill>
                  <a:srgbClr val="1C533E"/>
                </a:solidFill>
              </a:rPr>
              <a:t>2</a:t>
            </a:r>
          </a:p>
        </p:txBody>
      </p:sp>
      <p:sp>
        <p:nvSpPr>
          <p:cNvPr id="13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446826F0-9CF4-486B-8C59-6A125D5A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8142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201B"/>
                </a:solidFill>
              </a:defRPr>
            </a:pPr>
            <a:r>
              <a:rPr sz="1200" b="1" i="0">
                <a:solidFill>
                  <a:srgbClr val="18201B"/>
                </a:solidFill>
              </a:rPr>
              <a:t>Agentic RAG</a:t>
            </a:r>
          </a:p>
        </p:txBody>
      </p:sp>
      <p:sp>
        <p:nvSpPr>
          <p:cNvPr id="14" name="phase-status-2">
            <a:extLst xmlns:a="http://schemas.openxmlformats.org/drawingml/2006/main">
              <a:ext uri="{FF2B5EF4-FFF2-40B4-BE49-F238E27FC236}">
                <a16:creationId xmlns:a16="http://schemas.microsoft.com/office/drawing/2014/main" id="{6BD89690-A246-423C-A0CB-F6A9A001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005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C533E"/>
                </a:solidFill>
              </a:defRPr>
            </a:pPr>
            <a:r>
              <a:rPr sz="825" b="1" i="0">
                <a:solidFill>
                  <a:srgbClr val="1C533E"/>
                </a:solidFill>
              </a:rPr>
              <a:t>IMPLEMENTED</a:t>
            </a:r>
          </a:p>
        </p:txBody>
      </p:sp>
      <p:sp>
        <p:nvSpPr>
          <p:cNvPr id="15" name="phase-dot-3">
            <a:extLst xmlns:a="http://schemas.openxmlformats.org/drawingml/2006/main">
              <a:ext uri="{FF2B5EF4-FFF2-40B4-BE49-F238E27FC236}">
                <a16:creationId xmlns:a16="http://schemas.microsoft.com/office/drawing/2014/main" id="{507F5AE6-F28E-46DE-9CF6-CF0885E2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48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533E"/>
          </a:solidFill>
          <a:ln xmlns:a="http://schemas.openxmlformats.org/drawingml/2006/main" w="0">
            <a:solidFill>
              <a:srgbClr val="1C533E"/>
            </a:solidFill>
            <a:prstDash val="solid"/>
          </a:ln>
        </p:spPr>
      </p:sp>
      <p:sp>
        <p:nvSpPr>
          <p:cNvPr id="16" name="phase-n-3">
            <a:extLst xmlns:a="http://schemas.openxmlformats.org/drawingml/2006/main">
              <a:ext uri="{FF2B5EF4-FFF2-40B4-BE49-F238E27FC236}">
                <a16:creationId xmlns:a16="http://schemas.microsoft.com/office/drawing/2014/main" id="{1BDA5DB9-BF2B-4192-9780-2DCA129B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5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C533E"/>
                </a:solidFill>
              </a:defRPr>
            </a:pPr>
            <a:r>
              <a:rPr sz="1125" b="1" i="0">
                <a:solidFill>
                  <a:srgbClr val="1C533E"/>
                </a:solidFill>
              </a:rPr>
              <a:t>3</a:t>
            </a:r>
          </a:p>
        </p:txBody>
      </p:sp>
      <p:sp>
        <p:nvSpPr>
          <p:cNvPr id="17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DC9038D6-939C-42DE-9B96-FE5C464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8142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201B"/>
                </a:solidFill>
              </a:defRPr>
            </a:pPr>
            <a:r>
              <a:rPr sz="1200" b="1" i="0">
                <a:solidFill>
                  <a:srgbClr val="18201B"/>
                </a:solidFill>
              </a:rPr>
              <a:t>Evidence</a:t>
            </a:r>
          </a:p>
        </p:txBody>
      </p:sp>
      <p:sp>
        <p:nvSpPr>
          <p:cNvPr id="18" name="phase-status-3">
            <a:extLst xmlns:a="http://schemas.openxmlformats.org/drawingml/2006/main">
              <a:ext uri="{FF2B5EF4-FFF2-40B4-BE49-F238E27FC236}">
                <a16:creationId xmlns:a16="http://schemas.microsoft.com/office/drawing/2014/main" id="{AD214DC0-CA24-4AA3-A992-5183068F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005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C533E"/>
                </a:solidFill>
              </a:defRPr>
            </a:pPr>
            <a:r>
              <a:rPr sz="825" b="1" i="0">
                <a:solidFill>
                  <a:srgbClr val="1C533E"/>
                </a:solidFill>
              </a:rPr>
              <a:t>IMPLEMENTED</a:t>
            </a:r>
          </a:p>
        </p:txBody>
      </p:sp>
      <p:sp>
        <p:nvSpPr>
          <p:cNvPr id="19" name="phase-dot-4">
            <a:extLst xmlns:a="http://schemas.openxmlformats.org/drawingml/2006/main">
              <a:ext uri="{FF2B5EF4-FFF2-40B4-BE49-F238E27FC236}">
                <a16:creationId xmlns:a16="http://schemas.microsoft.com/office/drawing/2014/main" id="{E13D89AC-1376-4FB6-9FC4-7E70E71E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48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533E"/>
          </a:solidFill>
          <a:ln xmlns:a="http://schemas.openxmlformats.org/drawingml/2006/main" w="0">
            <a:solidFill>
              <a:srgbClr val="1C533E"/>
            </a:solidFill>
            <a:prstDash val="solid"/>
          </a:ln>
        </p:spPr>
      </p:sp>
      <p:sp>
        <p:nvSpPr>
          <p:cNvPr id="20" name="phase-n-4">
            <a:extLst xmlns:a="http://schemas.openxmlformats.org/drawingml/2006/main">
              <a:ext uri="{FF2B5EF4-FFF2-40B4-BE49-F238E27FC236}">
                <a16:creationId xmlns:a16="http://schemas.microsoft.com/office/drawing/2014/main" id="{1EC8C716-DA9A-4FB2-83AF-FA2F4BE2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65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C533E"/>
                </a:solidFill>
              </a:defRPr>
            </a:pPr>
            <a:r>
              <a:rPr sz="1125" b="1" i="0">
                <a:solidFill>
                  <a:srgbClr val="1C533E"/>
                </a:solidFill>
              </a:rPr>
              <a:t>4</a:t>
            </a:r>
          </a:p>
        </p:txBody>
      </p:sp>
      <p:sp>
        <p:nvSpPr>
          <p:cNvPr id="21" name="phase-label-4">
            <a:extLst xmlns:a="http://schemas.openxmlformats.org/drawingml/2006/main">
              <a:ext uri="{FF2B5EF4-FFF2-40B4-BE49-F238E27FC236}">
                <a16:creationId xmlns:a16="http://schemas.microsoft.com/office/drawing/2014/main" id="{A46D43E5-FB74-422C-AA80-3F754A2B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78142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201B"/>
                </a:solidFill>
              </a:defRPr>
            </a:pPr>
            <a:r>
              <a:rPr sz="1200" b="1" i="0">
                <a:solidFill>
                  <a:srgbClr val="18201B"/>
                </a:solidFill>
              </a:rPr>
              <a:t>Evaluation</a:t>
            </a:r>
          </a:p>
        </p:txBody>
      </p:sp>
      <p:sp>
        <p:nvSpPr>
          <p:cNvPr id="22" name="phase-status-4">
            <a:extLst xmlns:a="http://schemas.openxmlformats.org/drawingml/2006/main">
              <a:ext uri="{FF2B5EF4-FFF2-40B4-BE49-F238E27FC236}">
                <a16:creationId xmlns:a16="http://schemas.microsoft.com/office/drawing/2014/main" id="{B3A3AA6C-ABCA-4715-8FD9-47911646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005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C533E"/>
                </a:solidFill>
              </a:defRPr>
            </a:pPr>
            <a:r>
              <a:rPr sz="825" b="1" i="0">
                <a:solidFill>
                  <a:srgbClr val="1C533E"/>
                </a:solidFill>
              </a:rPr>
              <a:t>IMPLEMENTED</a:t>
            </a:r>
          </a:p>
        </p:txBody>
      </p:sp>
      <p:sp>
        <p:nvSpPr>
          <p:cNvPr id="23" name="phase-dot-5">
            <a:extLst xmlns:a="http://schemas.openxmlformats.org/drawingml/2006/main">
              <a:ext uri="{FF2B5EF4-FFF2-40B4-BE49-F238E27FC236}">
                <a16:creationId xmlns:a16="http://schemas.microsoft.com/office/drawing/2014/main" id="{674E0FD1-318A-4710-ADDC-EB7A74D1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48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4CBC3"/>
            </a:solidFill>
            <a:prstDash val="solid"/>
          </a:ln>
        </p:spPr>
      </p:sp>
      <p:sp>
        <p:nvSpPr>
          <p:cNvPr id="24" name="phase-n-5">
            <a:extLst xmlns:a="http://schemas.openxmlformats.org/drawingml/2006/main">
              <a:ext uri="{FF2B5EF4-FFF2-40B4-BE49-F238E27FC236}">
                <a16:creationId xmlns:a16="http://schemas.microsoft.com/office/drawing/2014/main" id="{37911530-66CE-4BF9-9139-1C4B229A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5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57068"/>
                </a:solidFill>
              </a:defRPr>
            </a:pPr>
            <a:r>
              <a:rPr sz="1125" b="1" i="0">
                <a:solidFill>
                  <a:srgbClr val="657068"/>
                </a:solidFill>
              </a:rPr>
              <a:t>5</a:t>
            </a:r>
          </a:p>
        </p:txBody>
      </p:sp>
      <p:sp>
        <p:nvSpPr>
          <p:cNvPr id="25" name="phase-label-5">
            <a:extLst xmlns:a="http://schemas.openxmlformats.org/drawingml/2006/main">
              <a:ext uri="{FF2B5EF4-FFF2-40B4-BE49-F238E27FC236}">
                <a16:creationId xmlns:a16="http://schemas.microsoft.com/office/drawing/2014/main" id="{63F9BFDE-098E-4B8C-9048-381EF15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8142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57068"/>
                </a:solidFill>
              </a:defRPr>
            </a:pPr>
            <a:r>
              <a:rPr sz="1200" b="1" i="0">
                <a:solidFill>
                  <a:srgbClr val="657068"/>
                </a:solidFill>
              </a:rPr>
              <a:t>Production</a:t>
            </a:r>
          </a:p>
        </p:txBody>
      </p:sp>
      <p:sp>
        <p:nvSpPr>
          <p:cNvPr id="26" name="phase-status-5">
            <a:extLst xmlns:a="http://schemas.openxmlformats.org/drawingml/2006/main">
              <a:ext uri="{FF2B5EF4-FFF2-40B4-BE49-F238E27FC236}">
                <a16:creationId xmlns:a16="http://schemas.microsoft.com/office/drawing/2014/main" id="{DEFA2CFA-D7DA-4A05-A257-A9329319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005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DEFERRED</a:t>
            </a:r>
          </a:p>
        </p:txBody>
      </p:sp>
      <p:sp>
        <p:nvSpPr>
          <p:cNvPr id="27" name="phase-dot-6">
            <a:extLst xmlns:a="http://schemas.openxmlformats.org/drawingml/2006/main">
              <a:ext uri="{FF2B5EF4-FFF2-40B4-BE49-F238E27FC236}">
                <a16:creationId xmlns:a16="http://schemas.microsoft.com/office/drawing/2014/main" id="{E819E687-EABE-42A2-9163-80725C54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48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533E"/>
          </a:solidFill>
          <a:ln xmlns:a="http://schemas.openxmlformats.org/drawingml/2006/main" w="0">
            <a:solidFill>
              <a:srgbClr val="1C533E"/>
            </a:solidFill>
            <a:prstDash val="solid"/>
          </a:ln>
        </p:spPr>
      </p:sp>
      <p:sp>
        <p:nvSpPr>
          <p:cNvPr id="28" name="phase-n-6">
            <a:extLst xmlns:a="http://schemas.openxmlformats.org/drawingml/2006/main">
              <a:ext uri="{FF2B5EF4-FFF2-40B4-BE49-F238E27FC236}">
                <a16:creationId xmlns:a16="http://schemas.microsoft.com/office/drawing/2014/main" id="{975993BB-3AC4-4F62-9905-02E9D808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5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C533E"/>
                </a:solidFill>
              </a:defRPr>
            </a:pPr>
            <a:r>
              <a:rPr sz="1125" b="1" i="0">
                <a:solidFill>
                  <a:srgbClr val="1C533E"/>
                </a:solidFill>
              </a:rPr>
              <a:t>6</a:t>
            </a:r>
          </a:p>
        </p:txBody>
      </p:sp>
      <p:sp>
        <p:nvSpPr>
          <p:cNvPr id="29" name="phase-label-6">
            <a:extLst xmlns:a="http://schemas.openxmlformats.org/drawingml/2006/main">
              <a:ext uri="{FF2B5EF4-FFF2-40B4-BE49-F238E27FC236}">
                <a16:creationId xmlns:a16="http://schemas.microsoft.com/office/drawing/2014/main" id="{15B437C5-4D86-4E86-A8A9-17116596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8142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8201B"/>
                </a:solidFill>
              </a:defRPr>
            </a:pPr>
            <a:r>
              <a:rPr sz="1200" b="1" i="0">
                <a:solidFill>
                  <a:srgbClr val="18201B"/>
                </a:solidFill>
              </a:rPr>
              <a:t>Studio</a:t>
            </a:r>
          </a:p>
        </p:txBody>
      </p:sp>
      <p:sp>
        <p:nvSpPr>
          <p:cNvPr id="30" name="phase-status-6">
            <a:extLst xmlns:a="http://schemas.openxmlformats.org/drawingml/2006/main">
              <a:ext uri="{FF2B5EF4-FFF2-40B4-BE49-F238E27FC236}">
                <a16:creationId xmlns:a16="http://schemas.microsoft.com/office/drawing/2014/main" id="{2BE09500-8B94-4164-B40A-32A1DEE0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005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C533E"/>
                </a:solidFill>
              </a:defRPr>
            </a:pPr>
            <a:r>
              <a:rPr sz="825" b="1" i="0">
                <a:solidFill>
                  <a:srgbClr val="1C533E"/>
                </a:solidFill>
              </a:rPr>
              <a:t>IMPLEMENTED</a:t>
            </a:r>
          </a:p>
        </p:txBody>
      </p:sp>
      <p:sp>
        <p:nvSpPr>
          <p:cNvPr id="31" name="phase-dot-7">
            <a:extLst xmlns:a="http://schemas.openxmlformats.org/drawingml/2006/main">
              <a:ext uri="{FF2B5EF4-FFF2-40B4-BE49-F238E27FC236}">
                <a16:creationId xmlns:a16="http://schemas.microsoft.com/office/drawing/2014/main" id="{A876C74F-E074-4C4B-9EB4-E9439D8F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4802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4CBC3"/>
            </a:solidFill>
            <a:prstDash val="solid"/>
          </a:ln>
        </p:spPr>
      </p:sp>
      <p:sp>
        <p:nvSpPr>
          <p:cNvPr id="32" name="phase-n-7">
            <a:extLst xmlns:a="http://schemas.openxmlformats.org/drawingml/2006/main">
              <a:ext uri="{FF2B5EF4-FFF2-40B4-BE49-F238E27FC236}">
                <a16:creationId xmlns:a16="http://schemas.microsoft.com/office/drawing/2014/main" id="{BABF185C-59E9-4862-AE3E-C62F185C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574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57068"/>
                </a:solidFill>
              </a:defRPr>
            </a:pPr>
            <a:r>
              <a:rPr sz="1125" b="1" i="0">
                <a:solidFill>
                  <a:srgbClr val="657068"/>
                </a:solidFill>
              </a:rPr>
              <a:t>7</a:t>
            </a:r>
          </a:p>
        </p:txBody>
      </p:sp>
      <p:sp>
        <p:nvSpPr>
          <p:cNvPr id="33" name="phase-label-7">
            <a:extLst xmlns:a="http://schemas.openxmlformats.org/drawingml/2006/main">
              <a:ext uri="{FF2B5EF4-FFF2-40B4-BE49-F238E27FC236}">
                <a16:creationId xmlns:a16="http://schemas.microsoft.com/office/drawing/2014/main" id="{C4B7F558-803E-4D25-BD5B-E9942FCB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781425"/>
            <a:ext cx="106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57068"/>
                </a:solidFill>
              </a:defRPr>
            </a:pPr>
            <a:r>
              <a:rPr sz="1200" b="1" i="0">
                <a:solidFill>
                  <a:srgbClr val="657068"/>
                </a:solidFill>
              </a:rPr>
              <a:t>Scale</a:t>
            </a:r>
          </a:p>
        </p:txBody>
      </p:sp>
      <p:sp>
        <p:nvSpPr>
          <p:cNvPr id="34" name="phase-status-7">
            <a:extLst xmlns:a="http://schemas.openxmlformats.org/drawingml/2006/main">
              <a:ext uri="{FF2B5EF4-FFF2-40B4-BE49-F238E27FC236}">
                <a16:creationId xmlns:a16="http://schemas.microsoft.com/office/drawing/2014/main" id="{C57FF934-29C3-45B5-8FB0-BF53FB68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005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57068"/>
                </a:solidFill>
              </a:defRPr>
            </a:pPr>
            <a:r>
              <a:rPr sz="825" b="1" i="0">
                <a:solidFill>
                  <a:srgbClr val="657068"/>
                </a:solidFill>
              </a:rPr>
              <a:t>DEFERRED</a:t>
            </a:r>
          </a:p>
        </p:txBody>
      </p:sp>
      <p:sp>
        <p:nvSpPr>
          <p:cNvPr id="35" name="scope-band">
            <a:extLst xmlns:a="http://schemas.openxmlformats.org/drawingml/2006/main">
              <a:ext uri="{FF2B5EF4-FFF2-40B4-BE49-F238E27FC236}">
                <a16:creationId xmlns:a16="http://schemas.microsoft.com/office/drawing/2014/main" id="{79BCD33B-5ADA-471A-A52A-F819618D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EE"/>
          </a:solidFill>
          <a:ln xmlns:a="http://schemas.openxmlformats.org/drawingml/2006/main" w="0">
            <a:solidFill>
              <a:srgbClr val="F5F5EE"/>
            </a:solidFill>
            <a:prstDash val="solid"/>
          </a:ln>
        </p:spPr>
      </p:sp>
      <p:sp>
        <p:nvSpPr>
          <p:cNvPr id="36" name="scope-band-copy">
            <a:extLst xmlns:a="http://schemas.openxmlformats.org/drawingml/2006/main">
              <a:ext uri="{FF2B5EF4-FFF2-40B4-BE49-F238E27FC236}">
                <a16:creationId xmlns:a16="http://schemas.microsoft.com/office/drawing/2014/main" id="{65D01D42-C687-43D8-A120-D57D903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3B2C"/>
                </a:solidFill>
              </a:defRPr>
            </a:pPr>
            <a:r>
              <a:rPr sz="1425" b="1" i="0">
                <a:solidFill>
                  <a:srgbClr val="123B2C"/>
                </a:solidFill>
              </a:rPr>
              <a:t>Phase 5 and Phase 7 stay out of scope so retrieval and evidence quality can mature before infrastructure and scale work begin.</a:t>
            </a:r>
          </a:p>
        </p:txBody>
      </p:sp>
    </p:spTree>
    <p:extLst>
      <p:ext uri="{BB962C8B-B14F-4D97-AF65-F5344CB8AC3E}">
        <p14:creationId xmlns:p14="http://schemas.microsoft.com/office/powerpoint/2010/main" val="89844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losing-accent">
            <a:extLst xmlns:a="http://schemas.openxmlformats.org/drawingml/2006/main">
              <a:ext uri="{FF2B5EF4-FFF2-40B4-BE49-F238E27FC236}">
                <a16:creationId xmlns:a16="http://schemas.microsoft.com/office/drawing/2014/main" id="{D9951101-8B09-4099-9D67-CF23F9B6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5D"/>
          </a:solidFill>
          <a:ln xmlns:a="http://schemas.openxmlformats.org/drawingml/2006/main" w="0">
            <a:solidFill>
              <a:srgbClr val="D5E55D"/>
            </a:solidFill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5C282E36-DC78-4DDC-885B-12274FBE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E55D"/>
                </a:solidFill>
              </a:defRPr>
            </a:pPr>
            <a:r>
              <a:rPr sz="975" b="1" i="0">
                <a:solidFill>
                  <a:srgbClr val="D5E55D"/>
                </a:solidFill>
              </a:rPr>
              <a:t>PROJECT TAKEAWAY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C7AF2AE-8DFE-4C14-8DFC-51F8ECBA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810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FFF"/>
                </a:solidFill>
              </a:defRPr>
            </a:pPr>
            <a:r>
              <a:rPr sz="3600" b="1" i="0">
                <a:solidFill>
                  <a:srgbClr val="FFFFFF"/>
                </a:solidFill>
              </a:rPr>
              <a:t>Research should be an auditable evidence process.</a:t>
            </a:r>
          </a:p>
        </p:txBody>
      </p:sp>
      <p:sp>
        <p:nvSpPr>
          <p:cNvPr id="4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EC1D7052-59C4-4E34-B77C-F1B9B37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</a:defRPr>
            </a:pPr>
            <a:r>
              <a:rPr sz="1650" b="0" i="0">
                <a:solidFill>
                  <a:srgbClr val="FFFFFF"/>
                </a:solidFill>
              </a:rPr>
              <a:t>Evidensia now demonstrates the complete product contract—from scholarly discovery to exact source passages and visible verification.</a:t>
            </a:r>
          </a:p>
        </p:txBody>
      </p:sp>
      <p:sp>
        <p:nvSpPr>
          <p:cNvPr id="5" name="rule-74-450">
            <a:extLst xmlns:a="http://schemas.openxmlformats.org/drawingml/2006/main">
              <a:ext uri="{FF2B5EF4-FFF2-40B4-BE49-F238E27FC236}">
                <a16:creationId xmlns:a16="http://schemas.microsoft.com/office/drawing/2014/main" id="{EEDDBE24-3D58-4B3A-A4AB-5F1B249E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062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55D"/>
          </a:solidFill>
          <a:ln xmlns:a="http://schemas.openxmlformats.org/drawingml/2006/main" w="0">
            <a:solidFill>
              <a:srgbClr val="D5E55D"/>
            </a:solidFill>
            <a:prstDash val="solid"/>
          </a:ln>
        </p:spPr>
      </p:sp>
      <p:sp>
        <p:nvSpPr>
          <p:cNvPr id="6" name="next-label">
            <a:extLst xmlns:a="http://schemas.openxmlformats.org/drawingml/2006/main">
              <a:ext uri="{FF2B5EF4-FFF2-40B4-BE49-F238E27FC236}">
                <a16:creationId xmlns:a16="http://schemas.microsoft.com/office/drawing/2014/main" id="{23258AEC-2AAB-47D1-B3AA-78575C83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E55D"/>
                </a:solidFill>
              </a:defRPr>
            </a:pPr>
            <a:r>
              <a:rPr sz="975" b="1" i="0">
                <a:solidFill>
                  <a:srgbClr val="D5E55D"/>
                </a:solidFill>
              </a:rPr>
              <a:t>NEXT QUALITY MILESTONE</a:t>
            </a:r>
          </a:p>
        </p:txBody>
      </p:sp>
      <p:sp>
        <p:nvSpPr>
          <p:cNvPr id="7" name="next-steps">
            <a:extLst xmlns:a="http://schemas.openxmlformats.org/drawingml/2006/main">
              <a:ext uri="{FF2B5EF4-FFF2-40B4-BE49-F238E27FC236}">
                <a16:creationId xmlns:a16="http://schemas.microsoft.com/office/drawing/2014/main" id="{E1CAC8B2-4EA7-4D90-A95B-86B3F91D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Versioned gold set   ·   provider-backed retrieval   ·   hosted backend when authorized</a:t>
            </a:r>
          </a:p>
        </p:txBody>
      </p:sp>
      <p:sp>
        <p:nvSpPr>
          <p:cNvPr id="8" name="closing-meta">
            <a:extLst xmlns:a="http://schemas.openxmlformats.org/drawingml/2006/main">
              <a:ext uri="{FF2B5EF4-FFF2-40B4-BE49-F238E27FC236}">
                <a16:creationId xmlns:a16="http://schemas.microsoft.com/office/drawing/2014/main" id="{31A80688-C396-4C02-8620-7E4F2DDD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98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</a:defRPr>
            </a:pPr>
            <a:r>
              <a:rPr sz="975" b="0" i="0">
                <a:solidFill>
                  <a:srgbClr val="FFFFFF"/>
                </a:solidFill>
              </a:rPr>
              <a:t>Evidensia AI  ·  August 2026</a:t>
            </a:r>
          </a:p>
        </p:txBody>
      </p:sp>
      <p:sp>
        <p:nvSpPr>
          <p:cNvPr id="9" name="closing-number">
            <a:extLst xmlns:a="http://schemas.openxmlformats.org/drawingml/2006/main">
              <a:ext uri="{FF2B5EF4-FFF2-40B4-BE49-F238E27FC236}">
                <a16:creationId xmlns:a16="http://schemas.microsoft.com/office/drawing/2014/main" id="{871B8853-8758-421F-8499-03FA4424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19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D5E55D"/>
                </a:solidFill>
              </a:defRPr>
            </a:pPr>
            <a:r>
              <a:rPr sz="975" b="1" i="0">
                <a:solidFill>
                  <a:srgbClr val="D5E55D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65313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2026-08-20T17:39:08.7530000Z</dcterms:created>
  <dcterms:modified xsi:type="dcterms:W3CDTF">2026-08-20T17:39:08.7530000Z</dcterms:modified>
</coreProperties>
</file>